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7" r:id="rId4"/>
    <p:sldId id="283" r:id="rId5"/>
    <p:sldId id="284" r:id="rId6"/>
    <p:sldId id="263" r:id="rId7"/>
    <p:sldId id="264" r:id="rId8"/>
    <p:sldId id="271" r:id="rId9"/>
    <p:sldId id="272" r:id="rId10"/>
    <p:sldId id="273" r:id="rId11"/>
    <p:sldId id="274" r:id="rId12"/>
    <p:sldId id="275" r:id="rId13"/>
    <p:sldId id="276" r:id="rId14"/>
    <p:sldId id="277" r:id="rId15"/>
    <p:sldId id="278" r:id="rId16"/>
    <p:sldId id="280" r:id="rId17"/>
    <p:sldId id="281" r:id="rId18"/>
    <p:sldId id="282" r:id="rId19"/>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7" d="100"/>
          <a:sy n="117" d="100"/>
        </p:scale>
        <p:origin x="29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B0DB3-A8FF-4ABB-9E2E-D960422260EB}"/>
              </a:ext>
            </a:extLst>
          </p:cNvPr>
          <p:cNvSpPr>
            <a:spLocks noGrp="1"/>
          </p:cNvSpPr>
          <p:nvPr>
            <p:ph type="ctrTitle"/>
          </p:nvPr>
        </p:nvSpPr>
        <p:spPr>
          <a:xfrm>
            <a:off x="1524000" y="1122363"/>
            <a:ext cx="9144000" cy="3025308"/>
          </a:xfrm>
        </p:spPr>
        <p:txBody>
          <a:bodyPr anchor="b">
            <a:normAutofit/>
          </a:bodyPr>
          <a:lstStyle>
            <a:lvl1pPr algn="ctr">
              <a:defRPr sz="6600"/>
            </a:lvl1pPr>
          </a:lstStyle>
          <a:p>
            <a:r>
              <a:rPr lang="en-US" dirty="0"/>
              <a:t>Click to edit Master title style</a:t>
            </a:r>
          </a:p>
        </p:txBody>
      </p:sp>
      <p:sp>
        <p:nvSpPr>
          <p:cNvPr id="3" name="Subtitle 2">
            <a:extLst>
              <a:ext uri="{FF2B5EF4-FFF2-40B4-BE49-F238E27FC236}">
                <a16:creationId xmlns:a16="http://schemas.microsoft.com/office/drawing/2014/main" id="{8BEE0618-75D7-410F-859C-CDF53BC53E85}"/>
              </a:ext>
            </a:extLst>
          </p:cNvPr>
          <p:cNvSpPr>
            <a:spLocks noGrp="1"/>
          </p:cNvSpPr>
          <p:nvPr>
            <p:ph type="subTitle" idx="1"/>
          </p:nvPr>
        </p:nvSpPr>
        <p:spPr>
          <a:xfrm>
            <a:off x="1524000" y="4386729"/>
            <a:ext cx="9144000" cy="1135529"/>
          </a:xfrm>
        </p:spPr>
        <p:txBody>
          <a:bodyPr>
            <a:normAutofit/>
          </a:bodyPr>
          <a:lstStyle>
            <a:lvl1pPr marL="0" indent="0" algn="ctr">
              <a:lnSpc>
                <a:spcPct val="12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A5237F11-76DB-4DD9-9747-3F38D05BA0FE}"/>
              </a:ext>
            </a:extLst>
          </p:cNvPr>
          <p:cNvSpPr>
            <a:spLocks noGrp="1"/>
          </p:cNvSpPr>
          <p:nvPr>
            <p:ph type="dt" sz="half" idx="10"/>
          </p:nvPr>
        </p:nvSpPr>
        <p:spPr/>
        <p:txBody>
          <a:bodyPr/>
          <a:lstStyle/>
          <a:p>
            <a:fld id="{11EAACC7-3B3F-47D1-959A-EF58926E955E}" type="datetimeFigureOut">
              <a:rPr lang="en-US" smtClean="0"/>
              <a:t>11/10/2024</a:t>
            </a:fld>
            <a:endParaRPr lang="en-US"/>
          </a:p>
        </p:txBody>
      </p:sp>
      <p:sp>
        <p:nvSpPr>
          <p:cNvPr id="5" name="Footer Placeholder 4">
            <a:extLst>
              <a:ext uri="{FF2B5EF4-FFF2-40B4-BE49-F238E27FC236}">
                <a16:creationId xmlns:a16="http://schemas.microsoft.com/office/drawing/2014/main" id="{3059F581-81B0-44B3-ABA5-A25CA4BAE4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10D591-ADCF-4300-8282-72AE357F3D2D}"/>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2138454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75558-A264-444E-829B-51AAE6B4BFCE}"/>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08D9373-37D1-4135-8D34-755E139F79DD}"/>
              </a:ext>
            </a:extLst>
          </p:cNvPr>
          <p:cNvSpPr>
            <a:spLocks noGrp="1"/>
          </p:cNvSpPr>
          <p:nvPr>
            <p:ph idx="1"/>
          </p:nvPr>
        </p:nvSpPr>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55E4A6B-1966-4E57-9FB8-8B111E97BC11}"/>
              </a:ext>
            </a:extLst>
          </p:cNvPr>
          <p:cNvSpPr>
            <a:spLocks noGrp="1"/>
          </p:cNvSpPr>
          <p:nvPr>
            <p:ph type="dt" sz="half" idx="10"/>
          </p:nvPr>
        </p:nvSpPr>
        <p:spPr/>
        <p:txBody>
          <a:bodyPr/>
          <a:lstStyle/>
          <a:p>
            <a:fld id="{11EAACC7-3B3F-47D1-959A-EF58926E955E}" type="datetimeFigureOut">
              <a:rPr lang="en-US" smtClean="0"/>
              <a:t>11/10/2024</a:t>
            </a:fld>
            <a:endParaRPr lang="en-US" dirty="0"/>
          </a:p>
        </p:txBody>
      </p:sp>
      <p:sp>
        <p:nvSpPr>
          <p:cNvPr id="5" name="Footer Placeholder 4">
            <a:extLst>
              <a:ext uri="{FF2B5EF4-FFF2-40B4-BE49-F238E27FC236}">
                <a16:creationId xmlns:a16="http://schemas.microsoft.com/office/drawing/2014/main" id="{133FC3DD-F2BE-41FF-895B-00129AAB15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1F830C-8424-4FAF-A011-605AE1D147FC}"/>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19816387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A1BE8-ECC1-4027-B16E-C7BECCA9DF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46C7E1-471A-46AA-8068-98E68C0C20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7C9F8F-EC48-4D16-B4C6-023A7B607BE6}"/>
              </a:ext>
            </a:extLst>
          </p:cNvPr>
          <p:cNvSpPr>
            <a:spLocks noGrp="1"/>
          </p:cNvSpPr>
          <p:nvPr>
            <p:ph type="dt" sz="half" idx="10"/>
          </p:nvPr>
        </p:nvSpPr>
        <p:spPr/>
        <p:txBody>
          <a:bodyPr/>
          <a:lstStyle/>
          <a:p>
            <a:fld id="{11EAACC7-3B3F-47D1-959A-EF58926E955E}" type="datetimeFigureOut">
              <a:rPr lang="en-US" smtClean="0"/>
              <a:t>11/10/2024</a:t>
            </a:fld>
            <a:endParaRPr lang="en-US"/>
          </a:p>
        </p:txBody>
      </p:sp>
      <p:sp>
        <p:nvSpPr>
          <p:cNvPr id="5" name="Footer Placeholder 4">
            <a:extLst>
              <a:ext uri="{FF2B5EF4-FFF2-40B4-BE49-F238E27FC236}">
                <a16:creationId xmlns:a16="http://schemas.microsoft.com/office/drawing/2014/main" id="{B79FA5B3-F726-417B-932A-B93E0C8F5A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7D21F1-1A24-43EA-AB09-3024C491E8FB}"/>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20354251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16569-B648-4D50-BEB8-E8DAE24D68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0831B3-A1FD-470C-BEEE-4CFB441502DD}"/>
              </a:ext>
            </a:extLst>
          </p:cNvPr>
          <p:cNvSpPr>
            <a:spLocks noGrp="1"/>
          </p:cNvSpPr>
          <p:nvPr>
            <p:ph sz="half" idx="1"/>
          </p:nvPr>
        </p:nvSpPr>
        <p:spPr>
          <a:xfrm>
            <a:off x="838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1F34A17-C244-438C-9AE3-FB9B3CE3BD8F}"/>
              </a:ext>
            </a:extLst>
          </p:cNvPr>
          <p:cNvSpPr>
            <a:spLocks noGrp="1"/>
          </p:cNvSpPr>
          <p:nvPr>
            <p:ph sz="half" idx="2"/>
          </p:nvPr>
        </p:nvSpPr>
        <p:spPr>
          <a:xfrm>
            <a:off x="6172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CFA3AA-3FC1-4B98-8F99-1726F1AC0A38}"/>
              </a:ext>
            </a:extLst>
          </p:cNvPr>
          <p:cNvSpPr>
            <a:spLocks noGrp="1"/>
          </p:cNvSpPr>
          <p:nvPr>
            <p:ph type="dt" sz="half" idx="10"/>
          </p:nvPr>
        </p:nvSpPr>
        <p:spPr/>
        <p:txBody>
          <a:bodyPr/>
          <a:lstStyle/>
          <a:p>
            <a:fld id="{11EAACC7-3B3F-47D1-959A-EF58926E955E}" type="datetimeFigureOut">
              <a:rPr lang="en-US" smtClean="0"/>
              <a:t>11/10/2024</a:t>
            </a:fld>
            <a:endParaRPr lang="en-US"/>
          </a:p>
        </p:txBody>
      </p:sp>
      <p:sp>
        <p:nvSpPr>
          <p:cNvPr id="6" name="Footer Placeholder 5">
            <a:extLst>
              <a:ext uri="{FF2B5EF4-FFF2-40B4-BE49-F238E27FC236}">
                <a16:creationId xmlns:a16="http://schemas.microsoft.com/office/drawing/2014/main" id="{1CE10883-BACC-41A1-9067-ECFDB937D7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7660A2-13C9-4432-A6EB-A4FF3D78F15F}"/>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2356234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7C843-C993-4E9C-80DD-3620816E56A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D91A8E3-B066-4511-9C6E-A3435B64DD88}"/>
              </a:ext>
            </a:extLst>
          </p:cNvPr>
          <p:cNvSpPr>
            <a:spLocks noGrp="1"/>
          </p:cNvSpPr>
          <p:nvPr>
            <p:ph type="body" idx="1"/>
          </p:nvPr>
        </p:nvSpPr>
        <p:spPr>
          <a:xfrm>
            <a:off x="839788" y="1734325"/>
            <a:ext cx="5157787"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E86B63-4102-4802-94D7-F138F80F3E19}"/>
              </a:ext>
            </a:extLst>
          </p:cNvPr>
          <p:cNvSpPr>
            <a:spLocks noGrp="1"/>
          </p:cNvSpPr>
          <p:nvPr>
            <p:ph sz="half" idx="2"/>
          </p:nvPr>
        </p:nvSpPr>
        <p:spPr>
          <a:xfrm>
            <a:off x="839788" y="2558237"/>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C924765-08A7-4A60-86DC-DC420F60BBAE}"/>
              </a:ext>
            </a:extLst>
          </p:cNvPr>
          <p:cNvSpPr>
            <a:spLocks noGrp="1"/>
          </p:cNvSpPr>
          <p:nvPr>
            <p:ph type="body" sz="quarter" idx="3"/>
          </p:nvPr>
        </p:nvSpPr>
        <p:spPr>
          <a:xfrm>
            <a:off x="6172200" y="1734325"/>
            <a:ext cx="5183188"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AA2795-EFB6-4000-8F25-FBB62646C0CD}"/>
              </a:ext>
            </a:extLst>
          </p:cNvPr>
          <p:cNvSpPr>
            <a:spLocks noGrp="1"/>
          </p:cNvSpPr>
          <p:nvPr>
            <p:ph sz="quarter" idx="4"/>
          </p:nvPr>
        </p:nvSpPr>
        <p:spPr>
          <a:xfrm>
            <a:off x="6172200" y="2558237"/>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942CFB-FE12-494A-9C41-3CB90F07BDAA}"/>
              </a:ext>
            </a:extLst>
          </p:cNvPr>
          <p:cNvSpPr>
            <a:spLocks noGrp="1"/>
          </p:cNvSpPr>
          <p:nvPr>
            <p:ph type="dt" sz="half" idx="10"/>
          </p:nvPr>
        </p:nvSpPr>
        <p:spPr/>
        <p:txBody>
          <a:bodyPr/>
          <a:lstStyle/>
          <a:p>
            <a:fld id="{11EAACC7-3B3F-47D1-959A-EF58926E955E}" type="datetimeFigureOut">
              <a:rPr lang="en-US" smtClean="0"/>
              <a:t>11/10/2024</a:t>
            </a:fld>
            <a:endParaRPr lang="en-US"/>
          </a:p>
        </p:txBody>
      </p:sp>
      <p:sp>
        <p:nvSpPr>
          <p:cNvPr id="8" name="Footer Placeholder 7">
            <a:extLst>
              <a:ext uri="{FF2B5EF4-FFF2-40B4-BE49-F238E27FC236}">
                <a16:creationId xmlns:a16="http://schemas.microsoft.com/office/drawing/2014/main" id="{6C3A07E3-59E1-4EBD-9687-4B6ABE96AC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F7BB23-7539-4674-8B66-ACEFF94686CE}"/>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10866215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841DB-C73C-4968-B434-A6AA14DAF62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08152BF-92C7-4BF5-A9DB-16A0BF0F5F5D}"/>
              </a:ext>
            </a:extLst>
          </p:cNvPr>
          <p:cNvSpPr>
            <a:spLocks noGrp="1"/>
          </p:cNvSpPr>
          <p:nvPr>
            <p:ph type="dt" sz="half" idx="10"/>
          </p:nvPr>
        </p:nvSpPr>
        <p:spPr/>
        <p:txBody>
          <a:bodyPr/>
          <a:lstStyle/>
          <a:p>
            <a:fld id="{11EAACC7-3B3F-47D1-959A-EF58926E955E}" type="datetimeFigureOut">
              <a:rPr lang="en-US" smtClean="0"/>
              <a:t>11/10/2024</a:t>
            </a:fld>
            <a:endParaRPr lang="en-US"/>
          </a:p>
        </p:txBody>
      </p:sp>
      <p:sp>
        <p:nvSpPr>
          <p:cNvPr id="4" name="Footer Placeholder 3">
            <a:extLst>
              <a:ext uri="{FF2B5EF4-FFF2-40B4-BE49-F238E27FC236}">
                <a16:creationId xmlns:a16="http://schemas.microsoft.com/office/drawing/2014/main" id="{C1289DB7-F492-4037-A439-D70F7E5565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FA96F1-8B8A-4E83-B3C2-E10DE522AD30}"/>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27006626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031033-9688-463F-9614-47F2F5BC6BF7}"/>
              </a:ext>
            </a:extLst>
          </p:cNvPr>
          <p:cNvSpPr>
            <a:spLocks noGrp="1"/>
          </p:cNvSpPr>
          <p:nvPr>
            <p:ph type="dt" sz="half" idx="10"/>
          </p:nvPr>
        </p:nvSpPr>
        <p:spPr/>
        <p:txBody>
          <a:bodyPr/>
          <a:lstStyle/>
          <a:p>
            <a:fld id="{11EAACC7-3B3F-47D1-959A-EF58926E955E}" type="datetimeFigureOut">
              <a:rPr lang="en-US" smtClean="0"/>
              <a:t>11/10/2024</a:t>
            </a:fld>
            <a:endParaRPr lang="en-US"/>
          </a:p>
        </p:txBody>
      </p:sp>
      <p:sp>
        <p:nvSpPr>
          <p:cNvPr id="3" name="Footer Placeholder 2">
            <a:extLst>
              <a:ext uri="{FF2B5EF4-FFF2-40B4-BE49-F238E27FC236}">
                <a16:creationId xmlns:a16="http://schemas.microsoft.com/office/drawing/2014/main" id="{085B8DB2-C14B-45AC-ACAF-8702DF59C6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001DA57-8D4E-4075-9460-4F03DF8AABA8}"/>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1693857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CBE2C-9DAA-489D-AC88-15CBBA8A9B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E124BE-E494-445A-A4FB-A2A8F28F0C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2446DE-9A32-4774-9F7C-86678CA90E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00115D-61B3-46D0-B4D3-30C374B526CF}"/>
              </a:ext>
            </a:extLst>
          </p:cNvPr>
          <p:cNvSpPr>
            <a:spLocks noGrp="1"/>
          </p:cNvSpPr>
          <p:nvPr>
            <p:ph type="dt" sz="half" idx="10"/>
          </p:nvPr>
        </p:nvSpPr>
        <p:spPr/>
        <p:txBody>
          <a:bodyPr/>
          <a:lstStyle/>
          <a:p>
            <a:fld id="{11EAACC7-3B3F-47D1-959A-EF58926E955E}" type="datetimeFigureOut">
              <a:rPr lang="en-US" smtClean="0"/>
              <a:t>11/10/2024</a:t>
            </a:fld>
            <a:endParaRPr lang="en-US"/>
          </a:p>
        </p:txBody>
      </p:sp>
      <p:sp>
        <p:nvSpPr>
          <p:cNvPr id="6" name="Footer Placeholder 5">
            <a:extLst>
              <a:ext uri="{FF2B5EF4-FFF2-40B4-BE49-F238E27FC236}">
                <a16:creationId xmlns:a16="http://schemas.microsoft.com/office/drawing/2014/main" id="{EF3C2AFC-D0F8-469F-B1E0-123C2E066E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B9BCDA-9EF7-4531-8021-AF7B30751516}"/>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19806586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AE558-F89F-4688-94E5-77F37D49F1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CD35AF-8CA2-49BB-BAE9-F29A0186EC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05CAA98-55BD-4118-A8AF-D603060784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BFF4C5-82A8-4AD8-B7E2-2882F657683C}"/>
              </a:ext>
            </a:extLst>
          </p:cNvPr>
          <p:cNvSpPr>
            <a:spLocks noGrp="1"/>
          </p:cNvSpPr>
          <p:nvPr>
            <p:ph type="dt" sz="half" idx="10"/>
          </p:nvPr>
        </p:nvSpPr>
        <p:spPr/>
        <p:txBody>
          <a:bodyPr/>
          <a:lstStyle/>
          <a:p>
            <a:fld id="{11EAACC7-3B3F-47D1-959A-EF58926E955E}" type="datetimeFigureOut">
              <a:rPr lang="en-US" smtClean="0"/>
              <a:t>11/10/2024</a:t>
            </a:fld>
            <a:endParaRPr lang="en-US"/>
          </a:p>
        </p:txBody>
      </p:sp>
      <p:sp>
        <p:nvSpPr>
          <p:cNvPr id="6" name="Footer Placeholder 5">
            <a:extLst>
              <a:ext uri="{FF2B5EF4-FFF2-40B4-BE49-F238E27FC236}">
                <a16:creationId xmlns:a16="http://schemas.microsoft.com/office/drawing/2014/main" id="{3860B401-B64F-417B-8AD6-581A22E5E0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24BD4C-7149-44BF-8150-F72CAA95A56D}"/>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2497934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E5C77-55F8-4677-A96C-E6D3F5545D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9A064EF-ADDA-4943-8F87-A7469D7997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B0D493-D1E7-4358-95E9-B5B80A49E603}"/>
              </a:ext>
            </a:extLst>
          </p:cNvPr>
          <p:cNvSpPr>
            <a:spLocks noGrp="1"/>
          </p:cNvSpPr>
          <p:nvPr>
            <p:ph type="dt" sz="half" idx="10"/>
          </p:nvPr>
        </p:nvSpPr>
        <p:spPr/>
        <p:txBody>
          <a:bodyPr/>
          <a:lstStyle/>
          <a:p>
            <a:fld id="{11EAACC7-3B3F-47D1-959A-EF58926E955E}" type="datetimeFigureOut">
              <a:rPr lang="en-US" smtClean="0"/>
              <a:t>11/10/2024</a:t>
            </a:fld>
            <a:endParaRPr lang="en-US"/>
          </a:p>
        </p:txBody>
      </p:sp>
      <p:sp>
        <p:nvSpPr>
          <p:cNvPr id="5" name="Footer Placeholder 4">
            <a:extLst>
              <a:ext uri="{FF2B5EF4-FFF2-40B4-BE49-F238E27FC236}">
                <a16:creationId xmlns:a16="http://schemas.microsoft.com/office/drawing/2014/main" id="{A6E98326-3276-4B9E-960F-10C6677BFA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4C3AC2-288D-4FEE-BF80-0EAEDDFAB049}"/>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3603213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333C6A-5417-40BD-BF7A-9405832237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3BCB45-B343-46F6-9718-AA0D68CED1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BDA2A4-FD34-4E17-908F-4367B1E644C3}"/>
              </a:ext>
            </a:extLst>
          </p:cNvPr>
          <p:cNvSpPr>
            <a:spLocks noGrp="1"/>
          </p:cNvSpPr>
          <p:nvPr>
            <p:ph type="dt" sz="half" idx="10"/>
          </p:nvPr>
        </p:nvSpPr>
        <p:spPr/>
        <p:txBody>
          <a:bodyPr/>
          <a:lstStyle/>
          <a:p>
            <a:fld id="{11EAACC7-3B3F-47D1-959A-EF58926E955E}" type="datetimeFigureOut">
              <a:rPr lang="en-US" smtClean="0"/>
              <a:t>11/10/2024</a:t>
            </a:fld>
            <a:endParaRPr lang="en-US"/>
          </a:p>
        </p:txBody>
      </p:sp>
      <p:sp>
        <p:nvSpPr>
          <p:cNvPr id="5" name="Footer Placeholder 4">
            <a:extLst>
              <a:ext uri="{FF2B5EF4-FFF2-40B4-BE49-F238E27FC236}">
                <a16:creationId xmlns:a16="http://schemas.microsoft.com/office/drawing/2014/main" id="{93B87AE3-776D-451D-AA52-C06B747248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A0C4D5-BE1E-4D6A-9196-E0F9E42B2E1E}"/>
              </a:ext>
            </a:extLst>
          </p:cNvPr>
          <p:cNvSpPr>
            <a:spLocks noGrp="1"/>
          </p:cNvSpPr>
          <p:nvPr>
            <p:ph type="sldNum" sz="quarter" idx="12"/>
          </p:nvPr>
        </p:nvSpPr>
        <p:spPr/>
        <p:txBody>
          <a:bodyPr/>
          <a:lstStyle/>
          <a:p>
            <a:fld id="{312CC964-A50B-4C29-B4E4-2C30BB34CCF3}" type="slidenum">
              <a:rPr lang="en-US" smtClean="0"/>
              <a:t>‹#›</a:t>
            </a:fld>
            <a:endParaRPr lang="en-US"/>
          </a:p>
        </p:txBody>
      </p:sp>
    </p:spTree>
    <p:extLst>
      <p:ext uri="{BB962C8B-B14F-4D97-AF65-F5344CB8AC3E}">
        <p14:creationId xmlns:p14="http://schemas.microsoft.com/office/powerpoint/2010/main" val="1563523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4436E0F2-A64B-471E-93C0-8DFE08CC57C8}"/>
              </a:ext>
            </a:extLst>
          </p:cNvPr>
          <p:cNvCxnSpPr>
            <a:cxnSpLocks/>
          </p:cNvCxnSpPr>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C1E3AB1-2A8C-4607-9FAE-D8BDB280FE1A}"/>
              </a:ext>
            </a:extLst>
          </p:cNvPr>
          <p:cNvCxnSpPr>
            <a:cxnSpLocks/>
          </p:cNvCxnSpPr>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6D66059-832F-40B6-A35F-F56C8F38A1E7}"/>
              </a:ext>
            </a:extLst>
          </p:cNvPr>
          <p:cNvCxnSpPr>
            <a:cxnSpLocks/>
          </p:cNvCxnSpPr>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515E2ED-7EA9-448D-83FA-54C3DF9723BD}"/>
              </a:ext>
            </a:extLst>
          </p:cNvPr>
          <p:cNvCxnSpPr>
            <a:cxnSpLocks/>
          </p:cNvCxnSpPr>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0595356-EABD-4767-AC9D-EA21FF115EC0}"/>
              </a:ext>
            </a:extLst>
          </p:cNvPr>
          <p:cNvCxnSpPr>
            <a:cxnSpLocks/>
          </p:cNvCxnSpPr>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CD9F06-9628-469C-B788-A894E3E08281}"/>
              </a:ext>
            </a:extLst>
          </p:cNvPr>
          <p:cNvCxnSpPr>
            <a:cxnSpLocks/>
          </p:cNvCxnSpPr>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50A431-0B61-421B-B4B7-24C0CFF0F938}"/>
              </a:ext>
            </a:extLst>
          </p:cNvPr>
          <p:cNvCxnSpPr>
            <a:cxnSpLocks/>
          </p:cNvCxnSpPr>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675B94C5-D205-4339-B029-5D0FD2E5F3DB}"/>
              </a:ext>
            </a:extLst>
          </p:cNvPr>
          <p:cNvSpPr>
            <a:spLocks noGrp="1"/>
          </p:cNvSpPr>
          <p:nvPr>
            <p:ph type="title"/>
          </p:nvPr>
        </p:nvSpPr>
        <p:spPr>
          <a:xfrm>
            <a:off x="1143000" y="533401"/>
            <a:ext cx="9906000" cy="1382156"/>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C096DC5C-BD34-4CE4-8AA7-A6A4B9516F8F}"/>
              </a:ext>
            </a:extLst>
          </p:cNvPr>
          <p:cNvSpPr>
            <a:spLocks noGrp="1"/>
          </p:cNvSpPr>
          <p:nvPr>
            <p:ph type="body" idx="1"/>
          </p:nvPr>
        </p:nvSpPr>
        <p:spPr>
          <a:xfrm>
            <a:off x="1143000" y="2009554"/>
            <a:ext cx="9906000" cy="402442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1F192A7-D622-449D-9FC2-48FDE4D690F1}"/>
              </a:ext>
            </a:extLst>
          </p:cNvPr>
          <p:cNvSpPr>
            <a:spLocks noGrp="1"/>
          </p:cNvSpPr>
          <p:nvPr>
            <p:ph type="dt" sz="half" idx="2"/>
          </p:nvPr>
        </p:nvSpPr>
        <p:spPr>
          <a:xfrm>
            <a:off x="7337102" y="6398878"/>
            <a:ext cx="4193908"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11EAACC7-3B3F-47D1-959A-EF58926E955E}" type="datetimeFigureOut">
              <a:rPr lang="en-US" smtClean="0"/>
              <a:t>11/10/2024</a:t>
            </a:fld>
            <a:endParaRPr lang="en-US"/>
          </a:p>
        </p:txBody>
      </p:sp>
      <p:sp>
        <p:nvSpPr>
          <p:cNvPr id="5" name="Footer Placeholder 4">
            <a:extLst>
              <a:ext uri="{FF2B5EF4-FFF2-40B4-BE49-F238E27FC236}">
                <a16:creationId xmlns:a16="http://schemas.microsoft.com/office/drawing/2014/main" id="{8435B93C-2BE9-4847-BFE5-D3CBCC6E948C}"/>
              </a:ext>
            </a:extLst>
          </p:cNvPr>
          <p:cNvSpPr>
            <a:spLocks noGrp="1"/>
          </p:cNvSpPr>
          <p:nvPr>
            <p:ph type="ftr" sz="quarter" idx="3"/>
          </p:nvPr>
        </p:nvSpPr>
        <p:spPr>
          <a:xfrm>
            <a:off x="154429" y="6398878"/>
            <a:ext cx="4497315" cy="365125"/>
          </a:xfrm>
          <a:prstGeom prst="rect">
            <a:avLst/>
          </a:prstGeom>
        </p:spPr>
        <p:txBody>
          <a:bodyPr vert="horz" lIns="91440" tIns="45720" rIns="91440" bIns="45720" rtlCol="0" anchor="ctr">
            <a:normAutofit/>
          </a:bodyPr>
          <a:lstStyle>
            <a:lvl1pPr algn="l">
              <a:defRPr sz="1200" b="1" spc="30" baseline="0">
                <a:solidFill>
                  <a:schemeClr val="tx2"/>
                </a:solidFill>
                <a:latin typeface="+mj-lt"/>
              </a:defRPr>
            </a:lvl1pPr>
          </a:lstStyle>
          <a:p>
            <a:endParaRPr lang="en-US" dirty="0"/>
          </a:p>
        </p:txBody>
      </p:sp>
      <p:sp>
        <p:nvSpPr>
          <p:cNvPr id="6" name="Slide Number Placeholder 5">
            <a:extLst>
              <a:ext uri="{FF2B5EF4-FFF2-40B4-BE49-F238E27FC236}">
                <a16:creationId xmlns:a16="http://schemas.microsoft.com/office/drawing/2014/main" id="{ADF70A99-395E-4F22-8AAB-6C7EE743D7D5}"/>
              </a:ext>
            </a:extLst>
          </p:cNvPr>
          <p:cNvSpPr>
            <a:spLocks noGrp="1"/>
          </p:cNvSpPr>
          <p:nvPr>
            <p:ph type="sldNum" sz="quarter" idx="4"/>
          </p:nvPr>
        </p:nvSpPr>
        <p:spPr>
          <a:xfrm>
            <a:off x="11602477" y="6398878"/>
            <a:ext cx="470887"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312CC964-A50B-4C29-B4E4-2C30BB34CCF3}" type="slidenum">
              <a:rPr lang="en-US" smtClean="0"/>
              <a:t>‹#›</a:t>
            </a:fld>
            <a:endParaRPr lang="en-US"/>
          </a:p>
        </p:txBody>
      </p:sp>
    </p:spTree>
    <p:extLst>
      <p:ext uri="{BB962C8B-B14F-4D97-AF65-F5344CB8AC3E}">
        <p14:creationId xmlns:p14="http://schemas.microsoft.com/office/powerpoint/2010/main" val="989501781"/>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xStyles>
    <p:titleStyle>
      <a:lvl1pPr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SzPct val="80000"/>
        <a:buFont typeface="Arial" panose="020B0604020202020204" pitchFamily="34" charset="0"/>
        <a:buChar char="•"/>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mailto:Sven.widmalm@idehist.uu.se"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23" name="Rectangle 22">
            <a:extLst>
              <a:ext uri="{FF2B5EF4-FFF2-40B4-BE49-F238E27FC236}">
                <a16:creationId xmlns:a16="http://schemas.microsoft.com/office/drawing/2014/main" id="{82950D9A-4705-4314-961A-4F88B2CE41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B13969F2-ED52-4E5C-B3FC-01E01B8B9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2"/>
            <a:ext cx="12192000" cy="685734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B6FABCE8-BE53-4E1F-A702-CFE050EF1742}"/>
              </a:ext>
            </a:extLst>
          </p:cNvPr>
          <p:cNvSpPr>
            <a:spLocks noGrp="1"/>
          </p:cNvSpPr>
          <p:nvPr>
            <p:ph type="ctrTitle"/>
          </p:nvPr>
        </p:nvSpPr>
        <p:spPr>
          <a:xfrm>
            <a:off x="1104901" y="467833"/>
            <a:ext cx="7071536" cy="1738421"/>
          </a:xfrm>
        </p:spPr>
        <p:txBody>
          <a:bodyPr vert="horz" lIns="91440" tIns="45720" rIns="91440" bIns="45720" rtlCol="0" anchor="ctr">
            <a:normAutofit/>
          </a:bodyPr>
          <a:lstStyle/>
          <a:p>
            <a:pPr algn="l"/>
            <a:r>
              <a:rPr lang="en-US" sz="4400" dirty="0" err="1"/>
              <a:t>Vetenskaps</a:t>
            </a:r>
            <a:r>
              <a:rPr lang="en-US" sz="4400" dirty="0"/>
              <a:t>- </a:t>
            </a:r>
            <a:r>
              <a:rPr lang="en-US" sz="4400" dirty="0" err="1"/>
              <a:t>och</a:t>
            </a:r>
            <a:r>
              <a:rPr lang="en-US" sz="4400" dirty="0"/>
              <a:t> </a:t>
            </a:r>
            <a:r>
              <a:rPr lang="en-US" sz="4400" dirty="0" err="1"/>
              <a:t>tekniksTUDIER</a:t>
            </a:r>
            <a:br>
              <a:rPr lang="en-US" sz="4400" dirty="0"/>
            </a:br>
            <a:endParaRPr lang="en-US" sz="2800" b="1" dirty="0"/>
          </a:p>
        </p:txBody>
      </p:sp>
      <p:sp>
        <p:nvSpPr>
          <p:cNvPr id="3" name="Underrubrik 2">
            <a:extLst>
              <a:ext uri="{FF2B5EF4-FFF2-40B4-BE49-F238E27FC236}">
                <a16:creationId xmlns:a16="http://schemas.microsoft.com/office/drawing/2014/main" id="{3D2F44D6-7319-497D-91B8-7C33B6FCE59F}"/>
              </a:ext>
            </a:extLst>
          </p:cNvPr>
          <p:cNvSpPr>
            <a:spLocks noGrp="1"/>
          </p:cNvSpPr>
          <p:nvPr>
            <p:ph type="subTitle" idx="1"/>
          </p:nvPr>
        </p:nvSpPr>
        <p:spPr>
          <a:xfrm>
            <a:off x="1073098" y="2739004"/>
            <a:ext cx="6571807" cy="2094253"/>
          </a:xfrm>
        </p:spPr>
        <p:txBody>
          <a:bodyPr vert="horz" lIns="91440" tIns="45720" rIns="91440" bIns="45720" rtlCol="0">
            <a:normAutofit/>
          </a:bodyPr>
          <a:lstStyle/>
          <a:p>
            <a:pPr indent="-228600" algn="l">
              <a:lnSpc>
                <a:spcPct val="100000"/>
              </a:lnSpc>
              <a:buFont typeface="Arial" panose="020B0604020202020204" pitchFamily="34" charset="0"/>
              <a:buChar char="•"/>
            </a:pPr>
            <a:r>
              <a:rPr lang="en-US" dirty="0"/>
              <a:t>Sven Widmalm</a:t>
            </a:r>
          </a:p>
          <a:p>
            <a:pPr indent="-228600" algn="l">
              <a:lnSpc>
                <a:spcPct val="100000"/>
              </a:lnSpc>
              <a:buFont typeface="Arial" panose="020B0604020202020204" pitchFamily="34" charset="0"/>
              <a:buChar char="•"/>
            </a:pPr>
            <a:r>
              <a:rPr lang="en-US" dirty="0"/>
              <a:t>Inst. För </a:t>
            </a:r>
            <a:r>
              <a:rPr lang="en-US" dirty="0" err="1"/>
              <a:t>idéhistoria</a:t>
            </a:r>
            <a:endParaRPr lang="en-US" dirty="0"/>
          </a:p>
          <a:p>
            <a:pPr indent="-228600" algn="l">
              <a:lnSpc>
                <a:spcPct val="100000"/>
              </a:lnSpc>
              <a:buFont typeface="Arial" panose="020B0604020202020204" pitchFamily="34" charset="0"/>
              <a:buChar char="•"/>
            </a:pPr>
            <a:r>
              <a:rPr lang="en-US" dirty="0">
                <a:hlinkClick r:id="rId2"/>
              </a:rPr>
              <a:t>Sven.widmalm@idehist.uu.se</a:t>
            </a:r>
            <a:endParaRPr lang="en-US" dirty="0"/>
          </a:p>
          <a:p>
            <a:pPr indent="-228600" algn="l">
              <a:lnSpc>
                <a:spcPct val="100000"/>
              </a:lnSpc>
              <a:buFont typeface="Arial" panose="020B0604020202020204" pitchFamily="34" charset="0"/>
              <a:buChar char="•"/>
            </a:pPr>
            <a:r>
              <a:rPr lang="en-US" dirty="0"/>
              <a:t>018-4711581</a:t>
            </a:r>
          </a:p>
        </p:txBody>
      </p:sp>
      <p:pic>
        <p:nvPicPr>
          <p:cNvPr id="4" name="Picture 3">
            <a:extLst>
              <a:ext uri="{FF2B5EF4-FFF2-40B4-BE49-F238E27FC236}">
                <a16:creationId xmlns:a16="http://schemas.microsoft.com/office/drawing/2014/main" id="{1FC1900B-50F2-463E-85D8-51AD8BA1ED50}"/>
              </a:ext>
            </a:extLst>
          </p:cNvPr>
          <p:cNvPicPr>
            <a:picLocks noChangeAspect="1"/>
          </p:cNvPicPr>
          <p:nvPr/>
        </p:nvPicPr>
        <p:blipFill rotWithShape="1">
          <a:blip r:embed="rId3"/>
          <a:srcRect l="22716" r="27208"/>
          <a:stretch/>
        </p:blipFill>
        <p:spPr>
          <a:xfrm>
            <a:off x="7613102" y="10"/>
            <a:ext cx="4578898" cy="6857990"/>
          </a:xfrm>
          <a:custGeom>
            <a:avLst/>
            <a:gdLst/>
            <a:ahLst/>
            <a:cxnLst/>
            <a:rect l="l" t="t" r="r" b="b"/>
            <a:pathLst>
              <a:path w="4578898" h="6844352">
                <a:moveTo>
                  <a:pt x="2085784" y="0"/>
                </a:moveTo>
                <a:lnTo>
                  <a:pt x="4578898" y="0"/>
                </a:lnTo>
                <a:lnTo>
                  <a:pt x="4578898" y="6844352"/>
                </a:lnTo>
                <a:lnTo>
                  <a:pt x="0" y="6844352"/>
                </a:lnTo>
                <a:close/>
              </a:path>
            </a:pathLst>
          </a:custGeom>
        </p:spPr>
      </p:pic>
      <p:cxnSp>
        <p:nvCxnSpPr>
          <p:cNvPr id="27" name="Straight Connector 26">
            <a:extLst>
              <a:ext uri="{FF2B5EF4-FFF2-40B4-BE49-F238E27FC236}">
                <a16:creationId xmlns:a16="http://schemas.microsoft.com/office/drawing/2014/main" id="{13AC671C-E66F-43C5-A66A-C477339DD23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31958" y="0"/>
            <a:ext cx="532263" cy="68580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00312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ruta 1">
            <a:extLst>
              <a:ext uri="{FF2B5EF4-FFF2-40B4-BE49-F238E27FC236}">
                <a16:creationId xmlns:a16="http://schemas.microsoft.com/office/drawing/2014/main" id="{E45A6BCC-00BA-453A-9E88-C6BE78A33801}"/>
              </a:ext>
            </a:extLst>
          </p:cNvPr>
          <p:cNvSpPr txBox="1"/>
          <p:nvPr/>
        </p:nvSpPr>
        <p:spPr>
          <a:xfrm>
            <a:off x="1199627" y="973123"/>
            <a:ext cx="9882230" cy="3785652"/>
          </a:xfrm>
          <a:prstGeom prst="rect">
            <a:avLst/>
          </a:prstGeom>
          <a:noFill/>
        </p:spPr>
        <p:txBody>
          <a:bodyPr wrap="square" rtlCol="0">
            <a:spAutoFit/>
          </a:bodyPr>
          <a:lstStyle/>
          <a:p>
            <a:pPr algn="ctr"/>
            <a:r>
              <a:rPr lang="sv-SE" sz="2400" dirty="0"/>
              <a:t>Teknik- och vetenskapsstudier</a:t>
            </a:r>
          </a:p>
          <a:p>
            <a:endParaRPr lang="sv-SE" dirty="0"/>
          </a:p>
          <a:p>
            <a:r>
              <a:rPr lang="sv-SE" dirty="0"/>
              <a:t>Kunskapssociologi – </a:t>
            </a:r>
            <a:r>
              <a:rPr lang="sv-SE" dirty="0" err="1"/>
              <a:t>Sociology</a:t>
            </a:r>
            <a:r>
              <a:rPr lang="sv-SE" dirty="0"/>
              <a:t> </a:t>
            </a:r>
            <a:r>
              <a:rPr lang="sv-SE" dirty="0" err="1"/>
              <a:t>of</a:t>
            </a:r>
            <a:r>
              <a:rPr lang="sv-SE" dirty="0"/>
              <a:t> </a:t>
            </a:r>
            <a:r>
              <a:rPr lang="sv-SE" dirty="0" err="1"/>
              <a:t>Scientific</a:t>
            </a:r>
            <a:r>
              <a:rPr lang="sv-SE" dirty="0"/>
              <a:t> </a:t>
            </a:r>
            <a:r>
              <a:rPr lang="sv-SE" dirty="0" err="1"/>
              <a:t>Knowledge</a:t>
            </a:r>
            <a:r>
              <a:rPr lang="sv-SE" dirty="0"/>
              <a:t> (SSK)</a:t>
            </a:r>
          </a:p>
          <a:p>
            <a:endParaRPr lang="sv-SE" dirty="0"/>
          </a:p>
          <a:p>
            <a:r>
              <a:rPr lang="sv-SE" dirty="0"/>
              <a:t>Tekniksociologi – Social Construction </a:t>
            </a:r>
            <a:r>
              <a:rPr lang="sv-SE" dirty="0" err="1"/>
              <a:t>of</a:t>
            </a:r>
            <a:r>
              <a:rPr lang="sv-SE" dirty="0"/>
              <a:t> </a:t>
            </a:r>
            <a:r>
              <a:rPr lang="sv-SE" dirty="0" err="1"/>
              <a:t>Technology</a:t>
            </a:r>
            <a:r>
              <a:rPr lang="sv-SE" dirty="0"/>
              <a:t> (SCOT)</a:t>
            </a:r>
          </a:p>
          <a:p>
            <a:endParaRPr lang="sv-SE" dirty="0"/>
          </a:p>
          <a:p>
            <a:r>
              <a:rPr lang="sv-SE" dirty="0"/>
              <a:t>Aktör-nätverksteori – </a:t>
            </a:r>
            <a:r>
              <a:rPr lang="sv-SE" dirty="0" err="1"/>
              <a:t>Actor</a:t>
            </a:r>
            <a:r>
              <a:rPr lang="sv-SE" dirty="0"/>
              <a:t> </a:t>
            </a:r>
            <a:r>
              <a:rPr lang="sv-SE" dirty="0" err="1"/>
              <a:t>Network</a:t>
            </a:r>
            <a:r>
              <a:rPr lang="sv-SE" dirty="0"/>
              <a:t> </a:t>
            </a:r>
            <a:r>
              <a:rPr lang="sv-SE" dirty="0" err="1"/>
              <a:t>Theory</a:t>
            </a:r>
            <a:r>
              <a:rPr lang="sv-SE" dirty="0"/>
              <a:t> (ANT)</a:t>
            </a:r>
          </a:p>
          <a:p>
            <a:endParaRPr lang="sv-SE" dirty="0"/>
          </a:p>
          <a:p>
            <a:r>
              <a:rPr lang="sv-SE" dirty="0"/>
              <a:t>Sociologisk, antropologisk, historisk analys</a:t>
            </a:r>
          </a:p>
          <a:p>
            <a:endParaRPr lang="sv-SE" dirty="0"/>
          </a:p>
          <a:p>
            <a:r>
              <a:rPr lang="sv-SE" dirty="0"/>
              <a:t>Teknik- och vetenskapsstudier – Science and </a:t>
            </a:r>
            <a:r>
              <a:rPr lang="sv-SE" dirty="0" err="1"/>
              <a:t>Technology</a:t>
            </a:r>
            <a:r>
              <a:rPr lang="sv-SE" dirty="0"/>
              <a:t> Studies eller Science </a:t>
            </a:r>
            <a:r>
              <a:rPr lang="sv-SE" dirty="0" err="1"/>
              <a:t>Technology-Society</a:t>
            </a:r>
            <a:r>
              <a:rPr lang="sv-SE" dirty="0"/>
              <a:t> (STS)</a:t>
            </a:r>
          </a:p>
          <a:p>
            <a:endParaRPr lang="sv-SE" dirty="0"/>
          </a:p>
          <a:p>
            <a:endParaRPr lang="sv-SE" dirty="0"/>
          </a:p>
        </p:txBody>
      </p:sp>
    </p:spTree>
    <p:extLst>
      <p:ext uri="{BB962C8B-B14F-4D97-AF65-F5344CB8AC3E}">
        <p14:creationId xmlns:p14="http://schemas.microsoft.com/office/powerpoint/2010/main" val="28690742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ruta 2">
            <a:extLst>
              <a:ext uri="{FF2B5EF4-FFF2-40B4-BE49-F238E27FC236}">
                <a16:creationId xmlns:a16="http://schemas.microsoft.com/office/drawing/2014/main" id="{F0EEAFBA-A361-4737-A0F8-FCD301211EC8}"/>
              </a:ext>
            </a:extLst>
          </p:cNvPr>
          <p:cNvSpPr txBox="1"/>
          <p:nvPr/>
        </p:nvSpPr>
        <p:spPr>
          <a:xfrm>
            <a:off x="3018453" y="2002504"/>
            <a:ext cx="6130212" cy="2308324"/>
          </a:xfrm>
          <a:prstGeom prst="rect">
            <a:avLst/>
          </a:prstGeom>
          <a:noFill/>
        </p:spPr>
        <p:txBody>
          <a:bodyPr wrap="square">
            <a:spAutoFit/>
          </a:bodyPr>
          <a:lstStyle/>
          <a:p>
            <a:pPr algn="l"/>
            <a:r>
              <a:rPr lang="sv-SE" i="0" dirty="0">
                <a:solidFill>
                  <a:srgbClr val="222222"/>
                </a:solidFill>
                <a:effectLst/>
              </a:rPr>
              <a:t>Metodologisk – kunskapsprocesser analyseras opartiskt, utan ställningstagande med avseende på sant och falskt (kunskapssociologi)</a:t>
            </a:r>
          </a:p>
          <a:p>
            <a:pPr algn="l"/>
            <a:endParaRPr lang="sv-SE" dirty="0">
              <a:solidFill>
                <a:srgbClr val="222222"/>
              </a:solidFill>
            </a:endParaRPr>
          </a:p>
          <a:p>
            <a:pPr algn="l"/>
            <a:r>
              <a:rPr lang="sv-SE" dirty="0">
                <a:solidFill>
                  <a:srgbClr val="222222"/>
                </a:solidFill>
              </a:rPr>
              <a:t>Filosofiskt – själva sanningen är kontextberoende; motsatsen till </a:t>
            </a:r>
            <a:r>
              <a:rPr lang="sv-SE" i="1" dirty="0">
                <a:solidFill>
                  <a:srgbClr val="222222"/>
                </a:solidFill>
              </a:rPr>
              <a:t>realism</a:t>
            </a:r>
            <a:r>
              <a:rPr lang="sv-SE" dirty="0">
                <a:solidFill>
                  <a:srgbClr val="222222"/>
                </a:solidFill>
              </a:rPr>
              <a:t>, att man kan närma sig verkligt sann kunskap (kunskapsteori)</a:t>
            </a:r>
          </a:p>
          <a:p>
            <a:pPr algn="l"/>
            <a:endParaRPr lang="sv-SE" i="0" dirty="0">
              <a:solidFill>
                <a:srgbClr val="222222"/>
              </a:solidFill>
              <a:effectLst/>
            </a:endParaRPr>
          </a:p>
          <a:p>
            <a:pPr algn="l"/>
            <a:r>
              <a:rPr lang="sv-SE" i="0" dirty="0">
                <a:solidFill>
                  <a:srgbClr val="222222"/>
                </a:solidFill>
                <a:effectLst/>
              </a:rPr>
              <a:t>Vardagligt – allting är relativt,</a:t>
            </a:r>
            <a:r>
              <a:rPr lang="sv-SE" dirty="0">
                <a:solidFill>
                  <a:srgbClr val="222222"/>
                </a:solidFill>
              </a:rPr>
              <a:t> det finns bara åsikter (populism)</a:t>
            </a:r>
            <a:br>
              <a:rPr lang="sv-SE" i="0" dirty="0">
                <a:solidFill>
                  <a:srgbClr val="EB6400"/>
                </a:solidFill>
                <a:effectLst/>
                <a:latin typeface="DS Heroun"/>
              </a:rPr>
            </a:br>
            <a:endParaRPr lang="sv-SE" dirty="0"/>
          </a:p>
        </p:txBody>
      </p:sp>
      <p:sp>
        <p:nvSpPr>
          <p:cNvPr id="4" name="textruta 3">
            <a:extLst>
              <a:ext uri="{FF2B5EF4-FFF2-40B4-BE49-F238E27FC236}">
                <a16:creationId xmlns:a16="http://schemas.microsoft.com/office/drawing/2014/main" id="{F5C3CC34-5B30-400D-B9B6-9701707CAEA0}"/>
              </a:ext>
            </a:extLst>
          </p:cNvPr>
          <p:cNvSpPr txBox="1"/>
          <p:nvPr/>
        </p:nvSpPr>
        <p:spPr>
          <a:xfrm>
            <a:off x="3018453" y="1107347"/>
            <a:ext cx="5561901" cy="369332"/>
          </a:xfrm>
          <a:prstGeom prst="rect">
            <a:avLst/>
          </a:prstGeom>
          <a:noFill/>
        </p:spPr>
        <p:txBody>
          <a:bodyPr wrap="square" rtlCol="0">
            <a:spAutoFit/>
          </a:bodyPr>
          <a:lstStyle/>
          <a:p>
            <a:pPr algn="ctr"/>
            <a:r>
              <a:rPr lang="sv-SE" dirty="0"/>
              <a:t>RELATIVISM</a:t>
            </a:r>
          </a:p>
        </p:txBody>
      </p:sp>
    </p:spTree>
    <p:extLst>
      <p:ext uri="{BB962C8B-B14F-4D97-AF65-F5344CB8AC3E}">
        <p14:creationId xmlns:p14="http://schemas.microsoft.com/office/powerpoint/2010/main" val="32343739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ruta 2">
            <a:extLst>
              <a:ext uri="{FF2B5EF4-FFF2-40B4-BE49-F238E27FC236}">
                <a16:creationId xmlns:a16="http://schemas.microsoft.com/office/drawing/2014/main" id="{F0EEAFBA-A361-4737-A0F8-FCD301211EC8}"/>
              </a:ext>
            </a:extLst>
          </p:cNvPr>
          <p:cNvSpPr txBox="1"/>
          <p:nvPr/>
        </p:nvSpPr>
        <p:spPr>
          <a:xfrm>
            <a:off x="3018453" y="2002504"/>
            <a:ext cx="6130212" cy="3416320"/>
          </a:xfrm>
          <a:prstGeom prst="rect">
            <a:avLst/>
          </a:prstGeom>
          <a:noFill/>
        </p:spPr>
        <p:txBody>
          <a:bodyPr wrap="square">
            <a:spAutoFit/>
          </a:bodyPr>
          <a:lstStyle/>
          <a:p>
            <a:pPr algn="l"/>
            <a:r>
              <a:rPr lang="sv-SE" b="0" i="0" u="none" strike="noStrike" dirty="0">
                <a:solidFill>
                  <a:srgbClr val="242424"/>
                </a:solidFill>
                <a:effectLst/>
              </a:rPr>
              <a:t>”Relativister i högskolan, lämna akademin!”</a:t>
            </a:r>
          </a:p>
          <a:p>
            <a:pPr algn="l"/>
            <a:endParaRPr lang="sv-SE" dirty="0">
              <a:solidFill>
                <a:srgbClr val="222222"/>
              </a:solidFill>
            </a:endParaRPr>
          </a:p>
          <a:p>
            <a:pPr algn="l"/>
            <a:r>
              <a:rPr lang="sv-SE" b="0" i="1" dirty="0">
                <a:solidFill>
                  <a:srgbClr val="222222"/>
                </a:solidFill>
                <a:effectLst/>
              </a:rPr>
              <a:t>Dagens Samhälle</a:t>
            </a:r>
            <a:r>
              <a:rPr lang="sv-SE" b="0" i="0" dirty="0">
                <a:solidFill>
                  <a:srgbClr val="222222"/>
                </a:solidFill>
                <a:effectLst/>
              </a:rPr>
              <a:t>, december 2018</a:t>
            </a:r>
          </a:p>
          <a:p>
            <a:pPr algn="l"/>
            <a:endParaRPr lang="sv-SE" dirty="0">
              <a:solidFill>
                <a:srgbClr val="222222"/>
              </a:solidFill>
            </a:endParaRPr>
          </a:p>
          <a:p>
            <a:pPr algn="l"/>
            <a:r>
              <a:rPr lang="sv-SE" b="0" i="0" dirty="0">
                <a:solidFill>
                  <a:srgbClr val="222222"/>
                </a:solidFill>
                <a:effectLst/>
              </a:rPr>
              <a:t>Av: Erik J Olsson (filosofiprofessor, Lund), Jens </a:t>
            </a:r>
            <a:r>
              <a:rPr lang="sv-SE" b="0" i="0" dirty="0" err="1">
                <a:solidFill>
                  <a:srgbClr val="222222"/>
                </a:solidFill>
                <a:effectLst/>
              </a:rPr>
              <a:t>Stilhoff</a:t>
            </a:r>
            <a:r>
              <a:rPr lang="sv-SE" b="0" i="0" dirty="0">
                <a:solidFill>
                  <a:srgbClr val="222222"/>
                </a:solidFill>
                <a:effectLst/>
              </a:rPr>
              <a:t> Sörensen (docent, globala studier, Lund), Magnus Zetterholm (docent, teologi, Lund)</a:t>
            </a:r>
          </a:p>
          <a:p>
            <a:pPr algn="l"/>
            <a:endParaRPr lang="sv-SE" dirty="0">
              <a:solidFill>
                <a:srgbClr val="222222"/>
              </a:solidFill>
            </a:endParaRPr>
          </a:p>
          <a:p>
            <a:pPr algn="l"/>
            <a:r>
              <a:rPr lang="sv-SE" b="0" i="0" dirty="0">
                <a:solidFill>
                  <a:srgbClr val="222222"/>
                </a:solidFill>
                <a:effectLst/>
              </a:rPr>
              <a:t>https://www.dagenssamhalle.se/debatt/relativister-i-hogskolan-lamna-akademin-25237</a:t>
            </a:r>
          </a:p>
          <a:p>
            <a:br>
              <a:rPr lang="sv-SE" b="1" i="0" dirty="0">
                <a:solidFill>
                  <a:srgbClr val="EB6400"/>
                </a:solidFill>
                <a:effectLst/>
                <a:latin typeface="DS Heroun"/>
              </a:rPr>
            </a:br>
            <a:endParaRPr lang="sv-SE" dirty="0"/>
          </a:p>
        </p:txBody>
      </p:sp>
      <p:sp>
        <p:nvSpPr>
          <p:cNvPr id="4" name="textruta 3">
            <a:extLst>
              <a:ext uri="{FF2B5EF4-FFF2-40B4-BE49-F238E27FC236}">
                <a16:creationId xmlns:a16="http://schemas.microsoft.com/office/drawing/2014/main" id="{F5C3CC34-5B30-400D-B9B6-9701707CAEA0}"/>
              </a:ext>
            </a:extLst>
          </p:cNvPr>
          <p:cNvSpPr txBox="1"/>
          <p:nvPr/>
        </p:nvSpPr>
        <p:spPr>
          <a:xfrm>
            <a:off x="3018453" y="1107347"/>
            <a:ext cx="5561901" cy="369332"/>
          </a:xfrm>
          <a:prstGeom prst="rect">
            <a:avLst/>
          </a:prstGeom>
          <a:noFill/>
        </p:spPr>
        <p:txBody>
          <a:bodyPr wrap="square" rtlCol="0">
            <a:spAutoFit/>
          </a:bodyPr>
          <a:lstStyle/>
          <a:p>
            <a:pPr algn="ctr"/>
            <a:r>
              <a:rPr lang="sv-SE" dirty="0"/>
              <a:t>RELATIVISM</a:t>
            </a:r>
          </a:p>
        </p:txBody>
      </p:sp>
    </p:spTree>
    <p:extLst>
      <p:ext uri="{BB962C8B-B14F-4D97-AF65-F5344CB8AC3E}">
        <p14:creationId xmlns:p14="http://schemas.microsoft.com/office/powerpoint/2010/main" val="1926213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ruta 2">
            <a:extLst>
              <a:ext uri="{FF2B5EF4-FFF2-40B4-BE49-F238E27FC236}">
                <a16:creationId xmlns:a16="http://schemas.microsoft.com/office/drawing/2014/main" id="{F0EEAFBA-A361-4737-A0F8-FCD301211EC8}"/>
              </a:ext>
            </a:extLst>
          </p:cNvPr>
          <p:cNvSpPr txBox="1"/>
          <p:nvPr/>
        </p:nvSpPr>
        <p:spPr>
          <a:xfrm>
            <a:off x="3018453" y="2002504"/>
            <a:ext cx="6130212" cy="3416320"/>
          </a:xfrm>
          <a:prstGeom prst="rect">
            <a:avLst/>
          </a:prstGeom>
          <a:noFill/>
        </p:spPr>
        <p:txBody>
          <a:bodyPr wrap="square">
            <a:spAutoFit/>
          </a:bodyPr>
          <a:lstStyle/>
          <a:p>
            <a:pPr algn="l"/>
            <a:r>
              <a:rPr lang="sv-SE" b="1" i="0" dirty="0">
                <a:solidFill>
                  <a:srgbClr val="222222"/>
                </a:solidFill>
                <a:effectLst/>
              </a:rPr>
              <a:t>Humanister har tyvärr </a:t>
            </a:r>
            <a:r>
              <a:rPr lang="sv-SE" b="0" i="0" dirty="0">
                <a:solidFill>
                  <a:srgbClr val="222222"/>
                </a:solidFill>
                <a:effectLst/>
              </a:rPr>
              <a:t>bidragit till relativismens utbredning, exempelvis i form av vissa typer av postmodernism. Utvecklingen har välkomnats av högskoleledningar som ofta har ett strategiskt intresse av att tona ner sanningssökandet och yttrandefriheten till förmån för mer kortsiktiga, politiska målsättningar, som regeringen som tillsatt dem gillar. På så sätt har humanister, som traditionellt i många fall varit maktkritiker, blivit ofta sedda gäster i högskoleledningarnas korridorer.</a:t>
            </a:r>
          </a:p>
          <a:p>
            <a:pPr algn="l"/>
            <a:endParaRPr lang="sv-SE" dirty="0">
              <a:solidFill>
                <a:srgbClr val="222222"/>
              </a:solidFill>
            </a:endParaRPr>
          </a:p>
          <a:p>
            <a:pPr algn="l"/>
            <a:r>
              <a:rPr lang="sv-SE" b="0" i="0" dirty="0">
                <a:solidFill>
                  <a:srgbClr val="222222"/>
                </a:solidFill>
                <a:effectLst/>
              </a:rPr>
              <a:t>https://www.dagenssamhalle.se/debatt/relativister-i-hogskolan-lamna-akademin-25237</a:t>
            </a:r>
          </a:p>
          <a:p>
            <a:br>
              <a:rPr lang="sv-SE" b="1" i="0" dirty="0">
                <a:solidFill>
                  <a:srgbClr val="EB6400"/>
                </a:solidFill>
                <a:effectLst/>
                <a:latin typeface="DS Heroun"/>
              </a:rPr>
            </a:br>
            <a:endParaRPr lang="sv-SE" dirty="0"/>
          </a:p>
        </p:txBody>
      </p:sp>
      <p:sp>
        <p:nvSpPr>
          <p:cNvPr id="4" name="textruta 3">
            <a:extLst>
              <a:ext uri="{FF2B5EF4-FFF2-40B4-BE49-F238E27FC236}">
                <a16:creationId xmlns:a16="http://schemas.microsoft.com/office/drawing/2014/main" id="{F5C3CC34-5B30-400D-B9B6-9701707CAEA0}"/>
              </a:ext>
            </a:extLst>
          </p:cNvPr>
          <p:cNvSpPr txBox="1"/>
          <p:nvPr/>
        </p:nvSpPr>
        <p:spPr>
          <a:xfrm>
            <a:off x="3018453" y="1107347"/>
            <a:ext cx="5561901" cy="369332"/>
          </a:xfrm>
          <a:prstGeom prst="rect">
            <a:avLst/>
          </a:prstGeom>
          <a:noFill/>
        </p:spPr>
        <p:txBody>
          <a:bodyPr wrap="square" rtlCol="0">
            <a:spAutoFit/>
          </a:bodyPr>
          <a:lstStyle/>
          <a:p>
            <a:pPr algn="ctr"/>
            <a:r>
              <a:rPr lang="sv-SE" dirty="0"/>
              <a:t>RELATIVISM</a:t>
            </a:r>
          </a:p>
        </p:txBody>
      </p:sp>
    </p:spTree>
    <p:extLst>
      <p:ext uri="{BB962C8B-B14F-4D97-AF65-F5344CB8AC3E}">
        <p14:creationId xmlns:p14="http://schemas.microsoft.com/office/powerpoint/2010/main" val="3745165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ruta 2">
            <a:extLst>
              <a:ext uri="{FF2B5EF4-FFF2-40B4-BE49-F238E27FC236}">
                <a16:creationId xmlns:a16="http://schemas.microsoft.com/office/drawing/2014/main" id="{F0EEAFBA-A361-4737-A0F8-FCD301211EC8}"/>
              </a:ext>
            </a:extLst>
          </p:cNvPr>
          <p:cNvSpPr txBox="1"/>
          <p:nvPr/>
        </p:nvSpPr>
        <p:spPr>
          <a:xfrm>
            <a:off x="3018453" y="2002504"/>
            <a:ext cx="6130212" cy="3693319"/>
          </a:xfrm>
          <a:prstGeom prst="rect">
            <a:avLst/>
          </a:prstGeom>
          <a:noFill/>
        </p:spPr>
        <p:txBody>
          <a:bodyPr wrap="square">
            <a:spAutoFit/>
          </a:bodyPr>
          <a:lstStyle/>
          <a:p>
            <a:pPr algn="l"/>
            <a:r>
              <a:rPr lang="sv-SE" b="1" i="0" dirty="0">
                <a:solidFill>
                  <a:srgbClr val="222222"/>
                </a:solidFill>
                <a:effectLst/>
              </a:rPr>
              <a:t>Att rensa ut </a:t>
            </a:r>
            <a:r>
              <a:rPr lang="sv-SE" b="0" i="0" dirty="0">
                <a:solidFill>
                  <a:srgbClr val="222222"/>
                </a:solidFill>
                <a:effectLst/>
              </a:rPr>
              <a:t>alla radikala relativister som underminerar högskolans verksamhet vore svårförenligt med den akademiska friheten,  initiativet bör i så fall komma från relativisterna själva. Den som efter moget övervägande fortfarande är radikal relativist bör därför seriöst fundera över att lämna högskolan och ägna sig åt något annat istället.</a:t>
            </a:r>
          </a:p>
          <a:p>
            <a:pPr algn="l"/>
            <a:endParaRPr lang="sv-SE" b="0" i="0" dirty="0">
              <a:solidFill>
                <a:srgbClr val="222222"/>
              </a:solidFill>
              <a:effectLst/>
            </a:endParaRPr>
          </a:p>
          <a:p>
            <a:pPr algn="l"/>
            <a:r>
              <a:rPr lang="sv-SE" b="1" i="0" dirty="0">
                <a:solidFill>
                  <a:srgbClr val="222222"/>
                </a:solidFill>
                <a:effectLst/>
              </a:rPr>
              <a:t>Så om du har en lärar- eller forskartjänst </a:t>
            </a:r>
            <a:r>
              <a:rPr lang="sv-SE" b="0" i="0" dirty="0">
                <a:solidFill>
                  <a:srgbClr val="222222"/>
                </a:solidFill>
                <a:effectLst/>
              </a:rPr>
              <a:t>och är radikal relativist, varför envisas med att sitta kvar på tjänsten? Är det inte dags att lämna plats åt dem som inte tyngs av samma relativistiska ok?</a:t>
            </a:r>
          </a:p>
          <a:p>
            <a:pPr algn="l"/>
            <a:endParaRPr lang="sv-SE" dirty="0">
              <a:solidFill>
                <a:srgbClr val="222222"/>
              </a:solidFill>
            </a:endParaRPr>
          </a:p>
          <a:p>
            <a:r>
              <a:rPr lang="sv-SE" b="0" i="0" dirty="0">
                <a:solidFill>
                  <a:srgbClr val="222222"/>
                </a:solidFill>
                <a:effectLst/>
              </a:rPr>
              <a:t>https://www.dagenssamhalle.se/debatt/relativister-i-hogskolan-lamna-akademin-25237</a:t>
            </a:r>
          </a:p>
          <a:p>
            <a:pPr algn="l"/>
            <a:endParaRPr lang="sv-SE" dirty="0">
              <a:solidFill>
                <a:srgbClr val="222222"/>
              </a:solidFill>
            </a:endParaRPr>
          </a:p>
        </p:txBody>
      </p:sp>
      <p:sp>
        <p:nvSpPr>
          <p:cNvPr id="4" name="textruta 3">
            <a:extLst>
              <a:ext uri="{FF2B5EF4-FFF2-40B4-BE49-F238E27FC236}">
                <a16:creationId xmlns:a16="http://schemas.microsoft.com/office/drawing/2014/main" id="{F5C3CC34-5B30-400D-B9B6-9701707CAEA0}"/>
              </a:ext>
            </a:extLst>
          </p:cNvPr>
          <p:cNvSpPr txBox="1"/>
          <p:nvPr/>
        </p:nvSpPr>
        <p:spPr>
          <a:xfrm>
            <a:off x="3018453" y="1107347"/>
            <a:ext cx="5561901" cy="369332"/>
          </a:xfrm>
          <a:prstGeom prst="rect">
            <a:avLst/>
          </a:prstGeom>
          <a:noFill/>
        </p:spPr>
        <p:txBody>
          <a:bodyPr wrap="square" rtlCol="0">
            <a:spAutoFit/>
          </a:bodyPr>
          <a:lstStyle/>
          <a:p>
            <a:pPr algn="ctr"/>
            <a:r>
              <a:rPr lang="sv-SE" dirty="0"/>
              <a:t>RELATIVISM</a:t>
            </a:r>
          </a:p>
        </p:txBody>
      </p:sp>
    </p:spTree>
    <p:extLst>
      <p:ext uri="{BB962C8B-B14F-4D97-AF65-F5344CB8AC3E}">
        <p14:creationId xmlns:p14="http://schemas.microsoft.com/office/powerpoint/2010/main" val="3860777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ruta 2">
            <a:extLst>
              <a:ext uri="{FF2B5EF4-FFF2-40B4-BE49-F238E27FC236}">
                <a16:creationId xmlns:a16="http://schemas.microsoft.com/office/drawing/2014/main" id="{F0EEAFBA-A361-4737-A0F8-FCD301211EC8}"/>
              </a:ext>
            </a:extLst>
          </p:cNvPr>
          <p:cNvSpPr txBox="1"/>
          <p:nvPr/>
        </p:nvSpPr>
        <p:spPr>
          <a:xfrm>
            <a:off x="3030894" y="1476679"/>
            <a:ext cx="6130212" cy="4150239"/>
          </a:xfrm>
          <a:prstGeom prst="rect">
            <a:avLst/>
          </a:prstGeom>
          <a:noFill/>
        </p:spPr>
        <p:txBody>
          <a:bodyPr wrap="square">
            <a:spAutoFit/>
          </a:bodyPr>
          <a:lstStyle/>
          <a:p>
            <a:pPr>
              <a:lnSpc>
                <a:spcPct val="107000"/>
              </a:lnSpc>
              <a:spcAft>
                <a:spcPts val="800"/>
              </a:spcAft>
            </a:pPr>
            <a:r>
              <a:rPr lang="sv-SE" dirty="0">
                <a:effectLst/>
                <a:ea typeface="Calibri" panose="020F0502020204030204" pitchFamily="34" charset="0"/>
                <a:cs typeface="Times New Roman" panose="02020603050405020304" pitchFamily="18" charset="0"/>
              </a:rPr>
              <a:t>Sammanfattning av hela artikeln</a:t>
            </a:r>
          </a:p>
          <a:p>
            <a:pPr>
              <a:lnSpc>
                <a:spcPct val="107000"/>
              </a:lnSpc>
              <a:spcAft>
                <a:spcPts val="800"/>
              </a:spcAft>
            </a:pPr>
            <a:r>
              <a:rPr lang="sv-SE" dirty="0">
                <a:effectLst/>
                <a:ea typeface="Calibri" panose="020F0502020204030204" pitchFamily="34" charset="0"/>
                <a:cs typeface="Times New Roman" panose="02020603050405020304" pitchFamily="18" charset="0"/>
              </a:rPr>
              <a:t>1. Relativism är en maktstrategi genom att göra sanningsanspråk till en politisk fråga. Traditionell vetenskaplig sanning och yttrandefrihet hotas därmed.</a:t>
            </a:r>
          </a:p>
          <a:p>
            <a:pPr lvl="0">
              <a:lnSpc>
                <a:spcPct val="107000"/>
              </a:lnSpc>
            </a:pPr>
            <a:r>
              <a:rPr lang="sv-SE" dirty="0">
                <a:effectLst/>
                <a:ea typeface="Calibri" panose="020F0502020204030204" pitchFamily="34" charset="0"/>
                <a:cs typeface="Times New Roman" panose="02020603050405020304" pitchFamily="18" charset="0"/>
              </a:rPr>
              <a:t>2. Relativism handlar om sant och falskt. Den är därmed bara relevant i förhållande till historiska </a:t>
            </a:r>
            <a:r>
              <a:rPr lang="sv-SE" i="1" dirty="0">
                <a:effectLst/>
                <a:ea typeface="Calibri" panose="020F0502020204030204" pitchFamily="34" charset="0"/>
                <a:cs typeface="Times New Roman" panose="02020603050405020304" pitchFamily="18" charset="0"/>
              </a:rPr>
              <a:t>felaktigheter</a:t>
            </a:r>
            <a:r>
              <a:rPr lang="sv-SE" dirty="0">
                <a:effectLst/>
                <a:ea typeface="Calibri" panose="020F0502020204030204" pitchFamily="34" charset="0"/>
                <a:cs typeface="Times New Roman" panose="02020603050405020304" pitchFamily="18" charset="0"/>
              </a:rPr>
              <a:t>.</a:t>
            </a:r>
          </a:p>
          <a:p>
            <a:pPr lvl="0">
              <a:lnSpc>
                <a:spcPct val="107000"/>
              </a:lnSpc>
            </a:pPr>
            <a:r>
              <a:rPr lang="sv-SE" dirty="0">
                <a:effectLst/>
                <a:ea typeface="Calibri" panose="020F0502020204030204" pitchFamily="34" charset="0"/>
                <a:cs typeface="Times New Roman" panose="02020603050405020304" pitchFamily="18" charset="0"/>
              </a:rPr>
              <a:t>3. Relativism är självmotsägande. Om man förnekar absolut sanning kan man inte själv ha sanningsanspråk.</a:t>
            </a:r>
          </a:p>
          <a:p>
            <a:pPr lvl="0">
              <a:lnSpc>
                <a:spcPct val="107000"/>
              </a:lnSpc>
            </a:pPr>
            <a:r>
              <a:rPr lang="sv-SE" dirty="0">
                <a:effectLst/>
                <a:ea typeface="Calibri" panose="020F0502020204030204" pitchFamily="34" charset="0"/>
                <a:cs typeface="Times New Roman" panose="02020603050405020304" pitchFamily="18" charset="0"/>
              </a:rPr>
              <a:t>4. Det finns en skarp gräns mellan vetenskaplig sanning och andra sanningsanspråk. Till exempel politik eller ”aktivism”.</a:t>
            </a:r>
          </a:p>
          <a:p>
            <a:pPr lvl="0">
              <a:lnSpc>
                <a:spcPct val="107000"/>
              </a:lnSpc>
            </a:pPr>
            <a:r>
              <a:rPr lang="sv-SE" dirty="0">
                <a:effectLst/>
                <a:ea typeface="Calibri" panose="020F0502020204030204" pitchFamily="34" charset="0"/>
                <a:cs typeface="Times New Roman" panose="02020603050405020304" pitchFamily="18" charset="0"/>
              </a:rPr>
              <a:t>5. Akademisk frihet är superviktig. Men relativister borde bort från universitetet.</a:t>
            </a:r>
          </a:p>
        </p:txBody>
      </p:sp>
      <p:sp>
        <p:nvSpPr>
          <p:cNvPr id="4" name="textruta 3">
            <a:extLst>
              <a:ext uri="{FF2B5EF4-FFF2-40B4-BE49-F238E27FC236}">
                <a16:creationId xmlns:a16="http://schemas.microsoft.com/office/drawing/2014/main" id="{F5C3CC34-5B30-400D-B9B6-9701707CAEA0}"/>
              </a:ext>
            </a:extLst>
          </p:cNvPr>
          <p:cNvSpPr txBox="1"/>
          <p:nvPr/>
        </p:nvSpPr>
        <p:spPr>
          <a:xfrm>
            <a:off x="3018453" y="1107347"/>
            <a:ext cx="5561901" cy="369332"/>
          </a:xfrm>
          <a:prstGeom prst="rect">
            <a:avLst/>
          </a:prstGeom>
          <a:noFill/>
        </p:spPr>
        <p:txBody>
          <a:bodyPr wrap="square" rtlCol="0">
            <a:spAutoFit/>
          </a:bodyPr>
          <a:lstStyle/>
          <a:p>
            <a:pPr algn="ctr"/>
            <a:r>
              <a:rPr lang="sv-SE" dirty="0"/>
              <a:t>RELATIVISM</a:t>
            </a:r>
          </a:p>
        </p:txBody>
      </p:sp>
    </p:spTree>
    <p:extLst>
      <p:ext uri="{BB962C8B-B14F-4D97-AF65-F5344CB8AC3E}">
        <p14:creationId xmlns:p14="http://schemas.microsoft.com/office/powerpoint/2010/main" val="30699218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ruta 2">
            <a:extLst>
              <a:ext uri="{FF2B5EF4-FFF2-40B4-BE49-F238E27FC236}">
                <a16:creationId xmlns:a16="http://schemas.microsoft.com/office/drawing/2014/main" id="{F0EEAFBA-A361-4737-A0F8-FCD301211EC8}"/>
              </a:ext>
            </a:extLst>
          </p:cNvPr>
          <p:cNvSpPr txBox="1"/>
          <p:nvPr/>
        </p:nvSpPr>
        <p:spPr>
          <a:xfrm>
            <a:off x="3030894" y="1476679"/>
            <a:ext cx="6130212" cy="2262735"/>
          </a:xfrm>
          <a:prstGeom prst="rect">
            <a:avLst/>
          </a:prstGeom>
          <a:noFill/>
        </p:spPr>
        <p:txBody>
          <a:bodyPr wrap="square">
            <a:spAutoFit/>
          </a:bodyPr>
          <a:lstStyle/>
          <a:p>
            <a:pPr marL="342900" indent="-342900">
              <a:lnSpc>
                <a:spcPct val="107000"/>
              </a:lnSpc>
              <a:spcAft>
                <a:spcPts val="800"/>
              </a:spcAft>
              <a:buAutoNum type="arabicPeriod"/>
            </a:pPr>
            <a:r>
              <a:rPr lang="sv-SE" dirty="0">
                <a:effectLst/>
                <a:ea typeface="Calibri" panose="020F0502020204030204" pitchFamily="34" charset="0"/>
                <a:cs typeface="Times New Roman" panose="02020603050405020304" pitchFamily="18" charset="0"/>
              </a:rPr>
              <a:t>Är en maktstrategi</a:t>
            </a:r>
          </a:p>
          <a:p>
            <a:pPr marL="342900" indent="-342900">
              <a:lnSpc>
                <a:spcPct val="107000"/>
              </a:lnSpc>
              <a:spcAft>
                <a:spcPts val="800"/>
              </a:spcAft>
              <a:buAutoNum type="arabicPeriod"/>
            </a:pPr>
            <a:endParaRPr lang="sv-SE" dirty="0">
              <a:ea typeface="Calibri" panose="020F0502020204030204" pitchFamily="34" charset="0"/>
              <a:cs typeface="Times New Roman" panose="02020603050405020304" pitchFamily="18" charset="0"/>
            </a:endParaRPr>
          </a:p>
          <a:p>
            <a:pPr>
              <a:lnSpc>
                <a:spcPct val="107000"/>
              </a:lnSpc>
              <a:spcAft>
                <a:spcPts val="800"/>
              </a:spcAft>
            </a:pPr>
            <a:r>
              <a:rPr lang="sv-SE" i="1" dirty="0">
                <a:ea typeface="Calibri" panose="020F0502020204030204" pitchFamily="34" charset="0"/>
                <a:cs typeface="Times New Roman" panose="02020603050405020304" pitchFamily="18" charset="0"/>
              </a:rPr>
              <a:t>Ja,</a:t>
            </a:r>
            <a:r>
              <a:rPr lang="sv-SE" dirty="0">
                <a:ea typeface="Calibri" panose="020F0502020204030204" pitchFamily="34" charset="0"/>
                <a:cs typeface="Times New Roman" panose="02020603050405020304" pitchFamily="18" charset="0"/>
              </a:rPr>
              <a:t> och det gäller ”vanlig” vetenskap också, även till exempel fysik eller filosofi</a:t>
            </a:r>
          </a:p>
          <a:p>
            <a:pPr>
              <a:lnSpc>
                <a:spcPct val="107000"/>
              </a:lnSpc>
              <a:spcAft>
                <a:spcPts val="800"/>
              </a:spcAft>
            </a:pPr>
            <a:r>
              <a:rPr lang="sv-SE" dirty="0">
                <a:ea typeface="Calibri" panose="020F0502020204030204" pitchFamily="34" charset="0"/>
                <a:cs typeface="Times New Roman" panose="02020603050405020304" pitchFamily="18" charset="0"/>
              </a:rPr>
              <a:t>All vetenskap är kopplad till politik och har sina egna maktintressen</a:t>
            </a:r>
          </a:p>
          <a:p>
            <a:pPr>
              <a:lnSpc>
                <a:spcPct val="107000"/>
              </a:lnSpc>
              <a:spcAft>
                <a:spcPts val="800"/>
              </a:spcAft>
            </a:pPr>
            <a:r>
              <a:rPr lang="sv-SE" dirty="0">
                <a:ea typeface="Calibri" panose="020F0502020204030204" pitchFamily="34" charset="0"/>
                <a:cs typeface="Times New Roman" panose="02020603050405020304" pitchFamily="18" charset="0"/>
              </a:rPr>
              <a:t>Inom vetenskapssociologi kallas detta </a:t>
            </a:r>
            <a:r>
              <a:rPr lang="sv-SE" i="1" dirty="0">
                <a:ea typeface="Calibri" panose="020F0502020204030204" pitchFamily="34" charset="0"/>
                <a:cs typeface="Times New Roman" panose="02020603050405020304" pitchFamily="18" charset="0"/>
              </a:rPr>
              <a:t>samproduktion</a:t>
            </a:r>
            <a:r>
              <a:rPr lang="sv-SE" dirty="0">
                <a:ea typeface="Calibri" panose="020F0502020204030204" pitchFamily="34" charset="0"/>
                <a:cs typeface="Times New Roman" panose="02020603050405020304" pitchFamily="18" charset="0"/>
              </a:rPr>
              <a:t> (co-</a:t>
            </a:r>
            <a:r>
              <a:rPr lang="sv-SE" dirty="0" err="1">
                <a:ea typeface="Calibri" panose="020F0502020204030204" pitchFamily="34" charset="0"/>
                <a:cs typeface="Times New Roman" panose="02020603050405020304" pitchFamily="18" charset="0"/>
              </a:rPr>
              <a:t>production</a:t>
            </a:r>
            <a:r>
              <a:rPr lang="sv-SE" dirty="0">
                <a:ea typeface="Calibri" panose="020F0502020204030204" pitchFamily="34" charset="0"/>
                <a:cs typeface="Times New Roman" panose="02020603050405020304" pitchFamily="18" charset="0"/>
              </a:rPr>
              <a:t>)</a:t>
            </a:r>
            <a:endParaRPr lang="sv-SE" dirty="0">
              <a:effectLst/>
              <a:ea typeface="Calibri" panose="020F0502020204030204" pitchFamily="34" charset="0"/>
              <a:cs typeface="Times New Roman" panose="02020603050405020304" pitchFamily="18" charset="0"/>
            </a:endParaRPr>
          </a:p>
        </p:txBody>
      </p:sp>
      <p:sp>
        <p:nvSpPr>
          <p:cNvPr id="4" name="textruta 3">
            <a:extLst>
              <a:ext uri="{FF2B5EF4-FFF2-40B4-BE49-F238E27FC236}">
                <a16:creationId xmlns:a16="http://schemas.microsoft.com/office/drawing/2014/main" id="{F5C3CC34-5B30-400D-B9B6-9701707CAEA0}"/>
              </a:ext>
            </a:extLst>
          </p:cNvPr>
          <p:cNvSpPr txBox="1"/>
          <p:nvPr/>
        </p:nvSpPr>
        <p:spPr>
          <a:xfrm>
            <a:off x="3018453" y="1107347"/>
            <a:ext cx="5561901" cy="369332"/>
          </a:xfrm>
          <a:prstGeom prst="rect">
            <a:avLst/>
          </a:prstGeom>
          <a:noFill/>
        </p:spPr>
        <p:txBody>
          <a:bodyPr wrap="square" rtlCol="0">
            <a:spAutoFit/>
          </a:bodyPr>
          <a:lstStyle/>
          <a:p>
            <a:pPr algn="ctr"/>
            <a:r>
              <a:rPr lang="sv-SE" dirty="0"/>
              <a:t>RELATIVISM …</a:t>
            </a:r>
          </a:p>
        </p:txBody>
      </p:sp>
    </p:spTree>
    <p:extLst>
      <p:ext uri="{BB962C8B-B14F-4D97-AF65-F5344CB8AC3E}">
        <p14:creationId xmlns:p14="http://schemas.microsoft.com/office/powerpoint/2010/main" val="7564272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ruta 2">
            <a:extLst>
              <a:ext uri="{FF2B5EF4-FFF2-40B4-BE49-F238E27FC236}">
                <a16:creationId xmlns:a16="http://schemas.microsoft.com/office/drawing/2014/main" id="{F0EEAFBA-A361-4737-A0F8-FCD301211EC8}"/>
              </a:ext>
            </a:extLst>
          </p:cNvPr>
          <p:cNvSpPr txBox="1"/>
          <p:nvPr/>
        </p:nvSpPr>
        <p:spPr>
          <a:xfrm>
            <a:off x="3030894" y="1476679"/>
            <a:ext cx="6130212" cy="2251322"/>
          </a:xfrm>
          <a:prstGeom prst="rect">
            <a:avLst/>
          </a:prstGeom>
          <a:noFill/>
        </p:spPr>
        <p:txBody>
          <a:bodyPr wrap="square">
            <a:spAutoFit/>
          </a:bodyPr>
          <a:lstStyle/>
          <a:p>
            <a:pPr>
              <a:lnSpc>
                <a:spcPct val="107000"/>
              </a:lnSpc>
              <a:spcAft>
                <a:spcPts val="800"/>
              </a:spcAft>
            </a:pPr>
            <a:r>
              <a:rPr lang="sv-SE" dirty="0">
                <a:effectLst/>
                <a:ea typeface="Calibri" panose="020F0502020204030204" pitchFamily="34" charset="0"/>
                <a:cs typeface="Times New Roman" panose="02020603050405020304" pitchFamily="18" charset="0"/>
              </a:rPr>
              <a:t>1. Är en maktstrategi</a:t>
            </a:r>
          </a:p>
          <a:p>
            <a:pPr lvl="0">
              <a:lnSpc>
                <a:spcPct val="107000"/>
              </a:lnSpc>
            </a:pPr>
            <a:r>
              <a:rPr lang="sv-SE" dirty="0">
                <a:effectLst/>
                <a:ea typeface="Calibri" panose="020F0502020204030204" pitchFamily="34" charset="0"/>
                <a:cs typeface="Times New Roman" panose="02020603050405020304" pitchFamily="18" charset="0"/>
              </a:rPr>
              <a:t>2. Handlar om sant och falskt</a:t>
            </a:r>
          </a:p>
          <a:p>
            <a:pPr lvl="0">
              <a:lnSpc>
                <a:spcPct val="107000"/>
              </a:lnSpc>
            </a:pPr>
            <a:endParaRPr lang="sv-SE" dirty="0">
              <a:ea typeface="Calibri" panose="020F0502020204030204" pitchFamily="34" charset="0"/>
              <a:cs typeface="Times New Roman" panose="02020603050405020304" pitchFamily="18" charset="0"/>
            </a:endParaRPr>
          </a:p>
          <a:p>
            <a:pPr lvl="0">
              <a:lnSpc>
                <a:spcPct val="107000"/>
              </a:lnSpc>
            </a:pPr>
            <a:r>
              <a:rPr lang="sv-SE" dirty="0">
                <a:effectLst/>
                <a:ea typeface="Calibri" panose="020F0502020204030204" pitchFamily="34" charset="0"/>
                <a:cs typeface="Times New Roman" panose="02020603050405020304" pitchFamily="18" charset="0"/>
              </a:rPr>
              <a:t>SSK utgår från att vetenskap som i efterhand visat sig fel och vetenskap som hållit ska analyseras på samma sätt</a:t>
            </a:r>
          </a:p>
          <a:p>
            <a:pPr lvl="0">
              <a:lnSpc>
                <a:spcPct val="107000"/>
              </a:lnSpc>
            </a:pPr>
            <a:r>
              <a:rPr lang="sv-SE" dirty="0">
                <a:ea typeface="Calibri" panose="020F0502020204030204" pitchFamily="34" charset="0"/>
                <a:cs typeface="Times New Roman" panose="02020603050405020304" pitchFamily="18" charset="0"/>
              </a:rPr>
              <a:t>Man undviker </a:t>
            </a:r>
            <a:r>
              <a:rPr lang="sv-SE" i="1" dirty="0" err="1">
                <a:ea typeface="Calibri" panose="020F0502020204030204" pitchFamily="34" charset="0"/>
                <a:cs typeface="Times New Roman" panose="02020603050405020304" pitchFamily="18" charset="0"/>
              </a:rPr>
              <a:t>sociology</a:t>
            </a:r>
            <a:r>
              <a:rPr lang="sv-SE" i="1" dirty="0">
                <a:ea typeface="Calibri" panose="020F0502020204030204" pitchFamily="34" charset="0"/>
                <a:cs typeface="Times New Roman" panose="02020603050405020304" pitchFamily="18" charset="0"/>
              </a:rPr>
              <a:t> </a:t>
            </a:r>
            <a:r>
              <a:rPr lang="sv-SE" i="1" dirty="0" err="1">
                <a:ea typeface="Calibri" panose="020F0502020204030204" pitchFamily="34" charset="0"/>
                <a:cs typeface="Times New Roman" panose="02020603050405020304" pitchFamily="18" charset="0"/>
              </a:rPr>
              <a:t>of</a:t>
            </a:r>
            <a:r>
              <a:rPr lang="sv-SE" i="1" dirty="0">
                <a:ea typeface="Calibri" panose="020F0502020204030204" pitchFamily="34" charset="0"/>
                <a:cs typeface="Times New Roman" panose="02020603050405020304" pitchFamily="18" charset="0"/>
              </a:rPr>
              <a:t> </a:t>
            </a:r>
            <a:r>
              <a:rPr lang="sv-SE" i="1" dirty="0" err="1">
                <a:ea typeface="Calibri" panose="020F0502020204030204" pitchFamily="34" charset="0"/>
                <a:cs typeface="Times New Roman" panose="02020603050405020304" pitchFamily="18" charset="0"/>
              </a:rPr>
              <a:t>error</a:t>
            </a:r>
            <a:r>
              <a:rPr lang="sv-SE" i="1" dirty="0">
                <a:ea typeface="Calibri" panose="020F0502020204030204" pitchFamily="34" charset="0"/>
                <a:cs typeface="Times New Roman" panose="02020603050405020304" pitchFamily="18" charset="0"/>
              </a:rPr>
              <a:t> </a:t>
            </a:r>
            <a:r>
              <a:rPr lang="sv-SE" dirty="0">
                <a:ea typeface="Calibri" panose="020F0502020204030204" pitchFamily="34" charset="0"/>
                <a:cs typeface="Times New Roman" panose="02020603050405020304" pitchFamily="18" charset="0"/>
              </a:rPr>
              <a:t>och behandlar båda typerna </a:t>
            </a:r>
            <a:r>
              <a:rPr lang="sv-SE" i="1" dirty="0">
                <a:ea typeface="Calibri" panose="020F0502020204030204" pitchFamily="34" charset="0"/>
                <a:cs typeface="Times New Roman" panose="02020603050405020304" pitchFamily="18" charset="0"/>
              </a:rPr>
              <a:t>symmetriskt</a:t>
            </a:r>
            <a:endParaRPr lang="sv-SE" i="1" dirty="0">
              <a:effectLst/>
              <a:ea typeface="Calibri" panose="020F0502020204030204" pitchFamily="34" charset="0"/>
              <a:cs typeface="Times New Roman" panose="02020603050405020304" pitchFamily="18" charset="0"/>
            </a:endParaRPr>
          </a:p>
        </p:txBody>
      </p:sp>
      <p:sp>
        <p:nvSpPr>
          <p:cNvPr id="4" name="textruta 3">
            <a:extLst>
              <a:ext uri="{FF2B5EF4-FFF2-40B4-BE49-F238E27FC236}">
                <a16:creationId xmlns:a16="http://schemas.microsoft.com/office/drawing/2014/main" id="{F5C3CC34-5B30-400D-B9B6-9701707CAEA0}"/>
              </a:ext>
            </a:extLst>
          </p:cNvPr>
          <p:cNvSpPr txBox="1"/>
          <p:nvPr/>
        </p:nvSpPr>
        <p:spPr>
          <a:xfrm>
            <a:off x="3018453" y="1107347"/>
            <a:ext cx="5561901" cy="369332"/>
          </a:xfrm>
          <a:prstGeom prst="rect">
            <a:avLst/>
          </a:prstGeom>
          <a:noFill/>
        </p:spPr>
        <p:txBody>
          <a:bodyPr wrap="square" rtlCol="0">
            <a:spAutoFit/>
          </a:bodyPr>
          <a:lstStyle/>
          <a:p>
            <a:pPr algn="ctr"/>
            <a:r>
              <a:rPr lang="sv-SE" dirty="0"/>
              <a:t>RELATIVISM …</a:t>
            </a:r>
          </a:p>
        </p:txBody>
      </p:sp>
    </p:spTree>
    <p:extLst>
      <p:ext uri="{BB962C8B-B14F-4D97-AF65-F5344CB8AC3E}">
        <p14:creationId xmlns:p14="http://schemas.microsoft.com/office/powerpoint/2010/main" val="13818401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ruta 2">
            <a:extLst>
              <a:ext uri="{FF2B5EF4-FFF2-40B4-BE49-F238E27FC236}">
                <a16:creationId xmlns:a16="http://schemas.microsoft.com/office/drawing/2014/main" id="{F0EEAFBA-A361-4737-A0F8-FCD301211EC8}"/>
              </a:ext>
            </a:extLst>
          </p:cNvPr>
          <p:cNvSpPr txBox="1"/>
          <p:nvPr/>
        </p:nvSpPr>
        <p:spPr>
          <a:xfrm>
            <a:off x="3030894" y="1476679"/>
            <a:ext cx="6130212" cy="3751283"/>
          </a:xfrm>
          <a:prstGeom prst="rect">
            <a:avLst/>
          </a:prstGeom>
          <a:noFill/>
        </p:spPr>
        <p:txBody>
          <a:bodyPr wrap="square">
            <a:spAutoFit/>
          </a:bodyPr>
          <a:lstStyle/>
          <a:p>
            <a:pPr>
              <a:lnSpc>
                <a:spcPct val="107000"/>
              </a:lnSpc>
              <a:spcAft>
                <a:spcPts val="800"/>
              </a:spcAft>
            </a:pPr>
            <a:r>
              <a:rPr lang="sv-SE" dirty="0">
                <a:effectLst/>
                <a:ea typeface="Calibri" panose="020F0502020204030204" pitchFamily="34" charset="0"/>
                <a:cs typeface="Times New Roman" panose="02020603050405020304" pitchFamily="18" charset="0"/>
              </a:rPr>
              <a:t>1. Är en maktstrategi</a:t>
            </a:r>
          </a:p>
          <a:p>
            <a:pPr lvl="0">
              <a:lnSpc>
                <a:spcPct val="107000"/>
              </a:lnSpc>
            </a:pPr>
            <a:r>
              <a:rPr lang="sv-SE" dirty="0">
                <a:effectLst/>
                <a:ea typeface="Calibri" panose="020F0502020204030204" pitchFamily="34" charset="0"/>
                <a:cs typeface="Times New Roman" panose="02020603050405020304" pitchFamily="18" charset="0"/>
              </a:rPr>
              <a:t>2. Handlar om sant och falskt</a:t>
            </a:r>
          </a:p>
          <a:p>
            <a:pPr lvl="0">
              <a:lnSpc>
                <a:spcPct val="107000"/>
              </a:lnSpc>
            </a:pPr>
            <a:endParaRPr lang="sv-SE" dirty="0">
              <a:ea typeface="Calibri" panose="020F0502020204030204" pitchFamily="34" charset="0"/>
              <a:cs typeface="Times New Roman" panose="02020603050405020304" pitchFamily="18" charset="0"/>
            </a:endParaRPr>
          </a:p>
          <a:p>
            <a:pPr lvl="0">
              <a:lnSpc>
                <a:spcPct val="107000"/>
              </a:lnSpc>
            </a:pPr>
            <a:r>
              <a:rPr lang="sv-SE" dirty="0">
                <a:effectLst/>
                <a:ea typeface="Calibri" panose="020F0502020204030204" pitchFamily="34" charset="0"/>
                <a:cs typeface="Times New Roman" panose="02020603050405020304" pitchFamily="18" charset="0"/>
              </a:rPr>
              <a:t>3. Är självmotsägande</a:t>
            </a:r>
          </a:p>
          <a:p>
            <a:pPr lvl="0">
              <a:lnSpc>
                <a:spcPct val="107000"/>
              </a:lnSpc>
            </a:pPr>
            <a:endParaRPr lang="sv-SE" dirty="0">
              <a:ea typeface="Calibri" panose="020F0502020204030204" pitchFamily="34" charset="0"/>
              <a:cs typeface="Times New Roman" panose="02020603050405020304" pitchFamily="18" charset="0"/>
            </a:endParaRPr>
          </a:p>
          <a:p>
            <a:pPr lvl="0">
              <a:lnSpc>
                <a:spcPct val="107000"/>
              </a:lnSpc>
            </a:pPr>
            <a:r>
              <a:rPr lang="sv-SE" dirty="0">
                <a:ea typeface="Calibri" panose="020F0502020204030204" pitchFamily="34" charset="0"/>
                <a:cs typeface="Times New Roman" panose="02020603050405020304" pitchFamily="18" charset="0"/>
              </a:rPr>
              <a:t>SSK utgår från att kunskapssociologi fungerar på samma sätt som annan vetenskap</a:t>
            </a:r>
          </a:p>
          <a:p>
            <a:pPr lvl="0">
              <a:lnSpc>
                <a:spcPct val="107000"/>
              </a:lnSpc>
            </a:pPr>
            <a:r>
              <a:rPr lang="sv-SE" dirty="0">
                <a:effectLst/>
                <a:ea typeface="Calibri" panose="020F0502020204030204" pitchFamily="34" charset="0"/>
                <a:cs typeface="Times New Roman" panose="02020603050405020304" pitchFamily="18" charset="0"/>
              </a:rPr>
              <a:t>Det är inte mer motsägelsefullt än att biologer utgår från att de själva är ett resultat av evolutionen, ekonomer från att vi är rationella (</a:t>
            </a:r>
            <a:r>
              <a:rPr lang="sv-SE" i="1" dirty="0" err="1">
                <a:effectLst/>
                <a:ea typeface="Calibri" panose="020F0502020204030204" pitchFamily="34" charset="0"/>
                <a:cs typeface="Times New Roman" panose="02020603050405020304" pitchFamily="18" charset="0"/>
              </a:rPr>
              <a:t>economic</a:t>
            </a:r>
            <a:r>
              <a:rPr lang="sv-SE" i="1" dirty="0">
                <a:effectLst/>
                <a:ea typeface="Calibri" panose="020F0502020204030204" pitchFamily="34" charset="0"/>
                <a:cs typeface="Times New Roman" panose="02020603050405020304" pitchFamily="18" charset="0"/>
              </a:rPr>
              <a:t> man)</a:t>
            </a:r>
            <a:r>
              <a:rPr lang="sv-SE" dirty="0">
                <a:effectLst/>
                <a:ea typeface="Calibri" panose="020F0502020204030204" pitchFamily="34" charset="0"/>
                <a:cs typeface="Times New Roman" panose="02020603050405020304" pitchFamily="18" charset="0"/>
              </a:rPr>
              <a:t>, psykologer från att vi kan delas in i personlighetstyper etc.</a:t>
            </a:r>
          </a:p>
          <a:p>
            <a:pPr lvl="0">
              <a:lnSpc>
                <a:spcPct val="107000"/>
              </a:lnSpc>
            </a:pPr>
            <a:r>
              <a:rPr lang="sv-SE" dirty="0">
                <a:ea typeface="Calibri" panose="020F0502020204030204" pitchFamily="34" charset="0"/>
                <a:cs typeface="Times New Roman" panose="02020603050405020304" pitchFamily="18" charset="0"/>
              </a:rPr>
              <a:t>Detta kallas inom SSK </a:t>
            </a:r>
            <a:r>
              <a:rPr lang="sv-SE" i="1" dirty="0">
                <a:ea typeface="Calibri" panose="020F0502020204030204" pitchFamily="34" charset="0"/>
                <a:cs typeface="Times New Roman" panose="02020603050405020304" pitchFamily="18" charset="0"/>
              </a:rPr>
              <a:t>reflexivitet</a:t>
            </a:r>
            <a:endParaRPr lang="sv-SE" dirty="0">
              <a:ea typeface="Calibri" panose="020F0502020204030204" pitchFamily="34" charset="0"/>
              <a:cs typeface="Times New Roman" panose="02020603050405020304" pitchFamily="18" charset="0"/>
            </a:endParaRPr>
          </a:p>
        </p:txBody>
      </p:sp>
      <p:sp>
        <p:nvSpPr>
          <p:cNvPr id="4" name="textruta 3">
            <a:extLst>
              <a:ext uri="{FF2B5EF4-FFF2-40B4-BE49-F238E27FC236}">
                <a16:creationId xmlns:a16="http://schemas.microsoft.com/office/drawing/2014/main" id="{F5C3CC34-5B30-400D-B9B6-9701707CAEA0}"/>
              </a:ext>
            </a:extLst>
          </p:cNvPr>
          <p:cNvSpPr txBox="1"/>
          <p:nvPr/>
        </p:nvSpPr>
        <p:spPr>
          <a:xfrm>
            <a:off x="3018453" y="1107347"/>
            <a:ext cx="5561901" cy="369332"/>
          </a:xfrm>
          <a:prstGeom prst="rect">
            <a:avLst/>
          </a:prstGeom>
          <a:noFill/>
        </p:spPr>
        <p:txBody>
          <a:bodyPr wrap="square" rtlCol="0">
            <a:spAutoFit/>
          </a:bodyPr>
          <a:lstStyle/>
          <a:p>
            <a:pPr algn="ctr"/>
            <a:r>
              <a:rPr lang="sv-SE" dirty="0"/>
              <a:t>RELATIVISM …</a:t>
            </a:r>
          </a:p>
        </p:txBody>
      </p:sp>
    </p:spTree>
    <p:extLst>
      <p:ext uri="{BB962C8B-B14F-4D97-AF65-F5344CB8AC3E}">
        <p14:creationId xmlns:p14="http://schemas.microsoft.com/office/powerpoint/2010/main" val="34226520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ruta 2">
            <a:extLst>
              <a:ext uri="{FF2B5EF4-FFF2-40B4-BE49-F238E27FC236}">
                <a16:creationId xmlns:a16="http://schemas.microsoft.com/office/drawing/2014/main" id="{F0EEAFBA-A361-4737-A0F8-FCD301211EC8}"/>
              </a:ext>
            </a:extLst>
          </p:cNvPr>
          <p:cNvSpPr txBox="1"/>
          <p:nvPr/>
        </p:nvSpPr>
        <p:spPr>
          <a:xfrm>
            <a:off x="3030894" y="1476679"/>
            <a:ext cx="6130212" cy="4622227"/>
          </a:xfrm>
          <a:prstGeom prst="rect">
            <a:avLst/>
          </a:prstGeom>
          <a:noFill/>
        </p:spPr>
        <p:txBody>
          <a:bodyPr wrap="square">
            <a:spAutoFit/>
          </a:bodyPr>
          <a:lstStyle/>
          <a:p>
            <a:pPr>
              <a:lnSpc>
                <a:spcPct val="107000"/>
              </a:lnSpc>
              <a:spcAft>
                <a:spcPts val="800"/>
              </a:spcAft>
            </a:pPr>
            <a:r>
              <a:rPr lang="sv-SE" dirty="0">
                <a:effectLst/>
                <a:ea typeface="Calibri" panose="020F0502020204030204" pitchFamily="34" charset="0"/>
                <a:cs typeface="Times New Roman" panose="02020603050405020304" pitchFamily="18" charset="0"/>
              </a:rPr>
              <a:t>1. Är en maktstrategi</a:t>
            </a:r>
          </a:p>
          <a:p>
            <a:pPr lvl="0">
              <a:lnSpc>
                <a:spcPct val="107000"/>
              </a:lnSpc>
            </a:pPr>
            <a:r>
              <a:rPr lang="sv-SE" dirty="0">
                <a:effectLst/>
                <a:ea typeface="Calibri" panose="020F0502020204030204" pitchFamily="34" charset="0"/>
                <a:cs typeface="Times New Roman" panose="02020603050405020304" pitchFamily="18" charset="0"/>
              </a:rPr>
              <a:t>2. Handlar om sant och falskt</a:t>
            </a:r>
          </a:p>
          <a:p>
            <a:pPr lvl="0">
              <a:lnSpc>
                <a:spcPct val="107000"/>
              </a:lnSpc>
            </a:pPr>
            <a:endParaRPr lang="sv-SE" dirty="0">
              <a:ea typeface="Calibri" panose="020F0502020204030204" pitchFamily="34" charset="0"/>
              <a:cs typeface="Times New Roman" panose="02020603050405020304" pitchFamily="18" charset="0"/>
            </a:endParaRPr>
          </a:p>
          <a:p>
            <a:pPr lvl="0">
              <a:lnSpc>
                <a:spcPct val="107000"/>
              </a:lnSpc>
            </a:pPr>
            <a:r>
              <a:rPr lang="sv-SE" dirty="0">
                <a:effectLst/>
                <a:ea typeface="Calibri" panose="020F0502020204030204" pitchFamily="34" charset="0"/>
                <a:cs typeface="Times New Roman" panose="02020603050405020304" pitchFamily="18" charset="0"/>
              </a:rPr>
              <a:t>3. Är självmotsägande</a:t>
            </a:r>
          </a:p>
          <a:p>
            <a:pPr lvl="0">
              <a:lnSpc>
                <a:spcPct val="107000"/>
              </a:lnSpc>
            </a:pPr>
            <a:endParaRPr lang="sv-SE" dirty="0">
              <a:effectLst/>
              <a:ea typeface="Calibri" panose="020F0502020204030204" pitchFamily="34" charset="0"/>
              <a:cs typeface="Times New Roman" panose="02020603050405020304" pitchFamily="18" charset="0"/>
            </a:endParaRPr>
          </a:p>
          <a:p>
            <a:pPr lvl="0">
              <a:lnSpc>
                <a:spcPct val="107000"/>
              </a:lnSpc>
            </a:pPr>
            <a:r>
              <a:rPr lang="sv-SE" dirty="0">
                <a:effectLst/>
                <a:ea typeface="Calibri" panose="020F0502020204030204" pitchFamily="34" charset="0"/>
                <a:cs typeface="Times New Roman" panose="02020603050405020304" pitchFamily="18" charset="0"/>
              </a:rPr>
              <a:t>4. Upphäver gränsen mellan vetenskap och </a:t>
            </a:r>
            <a:r>
              <a:rPr lang="sv-SE" dirty="0">
                <a:ea typeface="Calibri" panose="020F0502020204030204" pitchFamily="34" charset="0"/>
                <a:cs typeface="Times New Roman" panose="02020603050405020304" pitchFamily="18" charset="0"/>
              </a:rPr>
              <a:t>andra </a:t>
            </a:r>
            <a:r>
              <a:rPr lang="sv-SE" dirty="0">
                <a:effectLst/>
                <a:ea typeface="Calibri" panose="020F0502020204030204" pitchFamily="34" charset="0"/>
                <a:cs typeface="Times New Roman" panose="02020603050405020304" pitchFamily="18" charset="0"/>
              </a:rPr>
              <a:t>sanningsanspråk</a:t>
            </a:r>
          </a:p>
          <a:p>
            <a:pPr lvl="0">
              <a:lnSpc>
                <a:spcPct val="107000"/>
              </a:lnSpc>
            </a:pPr>
            <a:endParaRPr lang="sv-SE" dirty="0">
              <a:ea typeface="Calibri" panose="020F0502020204030204" pitchFamily="34" charset="0"/>
              <a:cs typeface="Times New Roman" panose="02020603050405020304" pitchFamily="18" charset="0"/>
            </a:endParaRPr>
          </a:p>
          <a:p>
            <a:pPr lvl="0">
              <a:lnSpc>
                <a:spcPct val="107000"/>
              </a:lnSpc>
            </a:pPr>
            <a:r>
              <a:rPr lang="sv-SE" dirty="0">
                <a:effectLst/>
                <a:ea typeface="Calibri" panose="020F0502020204030204" pitchFamily="34" charset="0"/>
                <a:cs typeface="Times New Roman" panose="02020603050405020304" pitchFamily="18" charset="0"/>
              </a:rPr>
              <a:t>I viss mån stämmer detta</a:t>
            </a:r>
          </a:p>
          <a:p>
            <a:pPr lvl="0">
              <a:lnSpc>
                <a:spcPct val="107000"/>
              </a:lnSpc>
            </a:pPr>
            <a:r>
              <a:rPr lang="sv-SE" dirty="0">
                <a:ea typeface="Calibri" panose="020F0502020204030204" pitchFamily="34" charset="0"/>
                <a:cs typeface="Times New Roman" panose="02020603050405020304" pitchFamily="18" charset="0"/>
              </a:rPr>
              <a:t>Kunskapssociologi utgår från att vetenskap förändras när den sprids och används</a:t>
            </a:r>
          </a:p>
          <a:p>
            <a:pPr lvl="0">
              <a:lnSpc>
                <a:spcPct val="107000"/>
              </a:lnSpc>
            </a:pPr>
            <a:r>
              <a:rPr lang="sv-SE" dirty="0">
                <a:effectLst/>
                <a:ea typeface="Calibri" panose="020F0502020204030204" pitchFamily="34" charset="0"/>
                <a:cs typeface="Times New Roman" panose="02020603050405020304" pitchFamily="18" charset="0"/>
              </a:rPr>
              <a:t>Ludwik Fleck: </a:t>
            </a:r>
            <a:r>
              <a:rPr lang="sv-SE" i="1" dirty="0">
                <a:effectLst/>
                <a:ea typeface="Calibri" panose="020F0502020204030204" pitchFamily="34" charset="0"/>
                <a:cs typeface="Times New Roman" panose="02020603050405020304" pitchFamily="18" charset="0"/>
              </a:rPr>
              <a:t>Uppkomsten och utvecklingen av ett vetenskapligt faktum </a:t>
            </a:r>
            <a:r>
              <a:rPr lang="sv-SE" dirty="0">
                <a:effectLst/>
                <a:ea typeface="Calibri" panose="020F0502020204030204" pitchFamily="34" charset="0"/>
                <a:cs typeface="Times New Roman" panose="02020603050405020304" pitchFamily="18" charset="0"/>
              </a:rPr>
              <a:t>(1935)</a:t>
            </a:r>
          </a:p>
          <a:p>
            <a:pPr lvl="0">
              <a:lnSpc>
                <a:spcPct val="107000"/>
              </a:lnSpc>
            </a:pPr>
            <a:r>
              <a:rPr lang="sv-SE" dirty="0">
                <a:ea typeface="Calibri" panose="020F0502020204030204" pitchFamily="34" charset="0"/>
                <a:cs typeface="Times New Roman" panose="02020603050405020304" pitchFamily="18" charset="0"/>
              </a:rPr>
              <a:t>Det sker ett utbyte mellan vetenskapliga och andra kunskapsformer i samhället</a:t>
            </a:r>
          </a:p>
          <a:p>
            <a:pPr lvl="0">
              <a:lnSpc>
                <a:spcPct val="107000"/>
              </a:lnSpc>
            </a:pPr>
            <a:r>
              <a:rPr lang="sv-SE" dirty="0">
                <a:effectLst/>
                <a:ea typeface="Calibri" panose="020F0502020204030204" pitchFamily="34" charset="0"/>
                <a:cs typeface="Times New Roman" panose="02020603050405020304" pitchFamily="18" charset="0"/>
              </a:rPr>
              <a:t>Gränserna är inte skarpa</a:t>
            </a:r>
          </a:p>
        </p:txBody>
      </p:sp>
      <p:sp>
        <p:nvSpPr>
          <p:cNvPr id="4" name="textruta 3">
            <a:extLst>
              <a:ext uri="{FF2B5EF4-FFF2-40B4-BE49-F238E27FC236}">
                <a16:creationId xmlns:a16="http://schemas.microsoft.com/office/drawing/2014/main" id="{F5C3CC34-5B30-400D-B9B6-9701707CAEA0}"/>
              </a:ext>
            </a:extLst>
          </p:cNvPr>
          <p:cNvSpPr txBox="1"/>
          <p:nvPr/>
        </p:nvSpPr>
        <p:spPr>
          <a:xfrm>
            <a:off x="3018453" y="1107347"/>
            <a:ext cx="5561901" cy="369332"/>
          </a:xfrm>
          <a:prstGeom prst="rect">
            <a:avLst/>
          </a:prstGeom>
          <a:noFill/>
        </p:spPr>
        <p:txBody>
          <a:bodyPr wrap="square" rtlCol="0">
            <a:spAutoFit/>
          </a:bodyPr>
          <a:lstStyle/>
          <a:p>
            <a:pPr algn="ctr"/>
            <a:r>
              <a:rPr lang="sv-SE" dirty="0"/>
              <a:t>RELATIVISM …</a:t>
            </a:r>
          </a:p>
        </p:txBody>
      </p:sp>
    </p:spTree>
    <p:extLst>
      <p:ext uri="{BB962C8B-B14F-4D97-AF65-F5344CB8AC3E}">
        <p14:creationId xmlns:p14="http://schemas.microsoft.com/office/powerpoint/2010/main" val="3480342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ruta 2">
            <a:extLst>
              <a:ext uri="{FF2B5EF4-FFF2-40B4-BE49-F238E27FC236}">
                <a16:creationId xmlns:a16="http://schemas.microsoft.com/office/drawing/2014/main" id="{F0EEAFBA-A361-4737-A0F8-FCD301211EC8}"/>
              </a:ext>
            </a:extLst>
          </p:cNvPr>
          <p:cNvSpPr txBox="1"/>
          <p:nvPr/>
        </p:nvSpPr>
        <p:spPr>
          <a:xfrm>
            <a:off x="3030894" y="1476679"/>
            <a:ext cx="6130212" cy="5001818"/>
          </a:xfrm>
          <a:prstGeom prst="rect">
            <a:avLst/>
          </a:prstGeom>
          <a:noFill/>
        </p:spPr>
        <p:txBody>
          <a:bodyPr wrap="square">
            <a:spAutoFit/>
          </a:bodyPr>
          <a:lstStyle/>
          <a:p>
            <a:pPr>
              <a:lnSpc>
                <a:spcPct val="107000"/>
              </a:lnSpc>
              <a:spcAft>
                <a:spcPts val="800"/>
              </a:spcAft>
            </a:pPr>
            <a:r>
              <a:rPr lang="sv-SE" dirty="0">
                <a:effectLst/>
                <a:ea typeface="Calibri" panose="020F0502020204030204" pitchFamily="34" charset="0"/>
                <a:cs typeface="Times New Roman" panose="02020603050405020304" pitchFamily="18" charset="0"/>
              </a:rPr>
              <a:t>1.  Är en maktstrategi</a:t>
            </a:r>
          </a:p>
          <a:p>
            <a:pPr>
              <a:lnSpc>
                <a:spcPct val="107000"/>
              </a:lnSpc>
              <a:spcAft>
                <a:spcPts val="800"/>
              </a:spcAft>
            </a:pPr>
            <a:r>
              <a:rPr lang="sv-SE" dirty="0">
                <a:ea typeface="Calibri" panose="020F0502020204030204" pitchFamily="34" charset="0"/>
                <a:cs typeface="Times New Roman" panose="02020603050405020304" pitchFamily="18" charset="0"/>
              </a:rPr>
              <a:t>2.  </a:t>
            </a:r>
            <a:r>
              <a:rPr lang="sv-SE" dirty="0">
                <a:effectLst/>
                <a:ea typeface="Calibri" panose="020F0502020204030204" pitchFamily="34" charset="0"/>
                <a:cs typeface="Times New Roman" panose="02020603050405020304" pitchFamily="18" charset="0"/>
              </a:rPr>
              <a:t>Handlar om sant och falskt</a:t>
            </a:r>
            <a:endParaRPr lang="sv-SE" dirty="0">
              <a:ea typeface="Calibri" panose="020F0502020204030204" pitchFamily="34" charset="0"/>
              <a:cs typeface="Times New Roman" panose="02020603050405020304" pitchFamily="18" charset="0"/>
            </a:endParaRPr>
          </a:p>
          <a:p>
            <a:pPr lvl="0">
              <a:lnSpc>
                <a:spcPct val="107000"/>
              </a:lnSpc>
            </a:pPr>
            <a:r>
              <a:rPr lang="sv-SE" dirty="0">
                <a:effectLst/>
                <a:ea typeface="Calibri" panose="020F0502020204030204" pitchFamily="34" charset="0"/>
                <a:cs typeface="Times New Roman" panose="02020603050405020304" pitchFamily="18" charset="0"/>
              </a:rPr>
              <a:t>3.  Är självmotsägande</a:t>
            </a:r>
          </a:p>
          <a:p>
            <a:pPr lvl="0">
              <a:lnSpc>
                <a:spcPct val="107000"/>
              </a:lnSpc>
            </a:pPr>
            <a:endParaRPr lang="sv-SE" dirty="0">
              <a:effectLst/>
              <a:ea typeface="Calibri" panose="020F0502020204030204" pitchFamily="34" charset="0"/>
              <a:cs typeface="Times New Roman" panose="02020603050405020304" pitchFamily="18" charset="0"/>
            </a:endParaRPr>
          </a:p>
          <a:p>
            <a:pPr lvl="0">
              <a:lnSpc>
                <a:spcPct val="107000"/>
              </a:lnSpc>
            </a:pPr>
            <a:r>
              <a:rPr lang="sv-SE" dirty="0">
                <a:effectLst/>
                <a:ea typeface="Calibri" panose="020F0502020204030204" pitchFamily="34" charset="0"/>
                <a:cs typeface="Times New Roman" panose="02020603050405020304" pitchFamily="18" charset="0"/>
              </a:rPr>
              <a:t>4. Upphäver gränsen mellan vetenskap och </a:t>
            </a:r>
            <a:r>
              <a:rPr lang="sv-SE" dirty="0">
                <a:ea typeface="Calibri" panose="020F0502020204030204" pitchFamily="34" charset="0"/>
                <a:cs typeface="Times New Roman" panose="02020603050405020304" pitchFamily="18" charset="0"/>
              </a:rPr>
              <a:t>andra </a:t>
            </a:r>
            <a:r>
              <a:rPr lang="sv-SE" dirty="0">
                <a:effectLst/>
                <a:ea typeface="Calibri" panose="020F0502020204030204" pitchFamily="34" charset="0"/>
                <a:cs typeface="Times New Roman" panose="02020603050405020304" pitchFamily="18" charset="0"/>
              </a:rPr>
              <a:t>sanningsanspråk</a:t>
            </a:r>
          </a:p>
          <a:p>
            <a:pPr lvl="0">
              <a:lnSpc>
                <a:spcPct val="107000"/>
              </a:lnSpc>
            </a:pPr>
            <a:endParaRPr lang="sv-SE" dirty="0">
              <a:effectLst/>
              <a:ea typeface="Calibri" panose="020F0502020204030204" pitchFamily="34" charset="0"/>
              <a:cs typeface="Times New Roman" panose="02020603050405020304" pitchFamily="18" charset="0"/>
            </a:endParaRPr>
          </a:p>
          <a:p>
            <a:pPr lvl="0">
              <a:lnSpc>
                <a:spcPct val="107000"/>
              </a:lnSpc>
            </a:pPr>
            <a:r>
              <a:rPr lang="sv-SE" dirty="0">
                <a:effectLst/>
                <a:ea typeface="Calibri" panose="020F0502020204030204" pitchFamily="34" charset="0"/>
                <a:cs typeface="Times New Roman" panose="02020603050405020304" pitchFamily="18" charset="0"/>
              </a:rPr>
              <a:t>5. Ska bort från universitetet</a:t>
            </a:r>
          </a:p>
          <a:p>
            <a:pPr lvl="0">
              <a:lnSpc>
                <a:spcPct val="107000"/>
              </a:lnSpc>
            </a:pPr>
            <a:endParaRPr lang="sv-SE" dirty="0">
              <a:ea typeface="Calibri" panose="020F0502020204030204" pitchFamily="34" charset="0"/>
              <a:cs typeface="Times New Roman" panose="02020603050405020304" pitchFamily="18" charset="0"/>
            </a:endParaRPr>
          </a:p>
          <a:p>
            <a:pPr lvl="0">
              <a:lnSpc>
                <a:spcPct val="107000"/>
              </a:lnSpc>
            </a:pPr>
            <a:r>
              <a:rPr lang="sv-SE" dirty="0">
                <a:effectLst/>
                <a:ea typeface="Calibri" panose="020F0502020204030204" pitchFamily="34" charset="0"/>
                <a:cs typeface="Times New Roman" panose="02020603050405020304" pitchFamily="18" charset="0"/>
              </a:rPr>
              <a:t>Science </a:t>
            </a:r>
            <a:r>
              <a:rPr lang="sv-SE" dirty="0" err="1">
                <a:effectLst/>
                <a:ea typeface="Calibri" panose="020F0502020204030204" pitchFamily="34" charset="0"/>
                <a:cs typeface="Times New Roman" panose="02020603050405020304" pitchFamily="18" charset="0"/>
              </a:rPr>
              <a:t>Wars</a:t>
            </a:r>
            <a:r>
              <a:rPr lang="sv-SE" dirty="0">
                <a:effectLst/>
                <a:ea typeface="Calibri" panose="020F0502020204030204" pitchFamily="34" charset="0"/>
                <a:cs typeface="Times New Roman" panose="02020603050405020304" pitchFamily="18" charset="0"/>
              </a:rPr>
              <a:t>, 1990-talet; </a:t>
            </a:r>
            <a:r>
              <a:rPr lang="sv-SE" dirty="0">
                <a:ea typeface="Calibri" panose="020F0502020204030204" pitchFamily="34" charset="0"/>
                <a:cs typeface="Times New Roman" panose="02020603050405020304" pitchFamily="18" charset="0"/>
              </a:rPr>
              <a:t>Sokalaffären, 1996</a:t>
            </a:r>
          </a:p>
          <a:p>
            <a:pPr lvl="0">
              <a:lnSpc>
                <a:spcPct val="107000"/>
              </a:lnSpc>
            </a:pPr>
            <a:r>
              <a:rPr lang="sv-SE" dirty="0">
                <a:effectLst/>
                <a:ea typeface="Calibri" panose="020F0502020204030204" pitchFamily="34" charset="0"/>
                <a:cs typeface="Times New Roman" panose="02020603050405020304" pitchFamily="18" charset="0"/>
              </a:rPr>
              <a:t>Många exempel på felaktig vetenskap även inom naturvetenskap och medicin</a:t>
            </a:r>
          </a:p>
          <a:p>
            <a:pPr lvl="0">
              <a:lnSpc>
                <a:spcPct val="107000"/>
              </a:lnSpc>
            </a:pPr>
            <a:r>
              <a:rPr lang="sv-SE" dirty="0">
                <a:effectLst/>
                <a:ea typeface="Calibri" panose="020F0502020204030204" pitchFamily="34" charset="0"/>
                <a:cs typeface="Times New Roman" panose="02020603050405020304" pitchFamily="18" charset="0"/>
              </a:rPr>
              <a:t>Att bortdefiniera viss typ av vetenskap beskrivs kunskapssociologiskt som </a:t>
            </a:r>
            <a:r>
              <a:rPr lang="sv-SE" i="1" dirty="0">
                <a:ea typeface="Calibri" panose="020F0502020204030204" pitchFamily="34" charset="0"/>
                <a:cs typeface="Times New Roman" panose="02020603050405020304" pitchFamily="18" charset="0"/>
              </a:rPr>
              <a:t>gränsdragningsarbete</a:t>
            </a:r>
            <a:r>
              <a:rPr lang="sv-SE" dirty="0">
                <a:ea typeface="Calibri" panose="020F0502020204030204" pitchFamily="34" charset="0"/>
                <a:cs typeface="Times New Roman" panose="02020603050405020304" pitchFamily="18" charset="0"/>
              </a:rPr>
              <a:t> (</a:t>
            </a:r>
            <a:r>
              <a:rPr lang="sv-SE" dirty="0" err="1">
                <a:ea typeface="Calibri" panose="020F0502020204030204" pitchFamily="34" charset="0"/>
                <a:cs typeface="Times New Roman" panose="02020603050405020304" pitchFamily="18" charset="0"/>
              </a:rPr>
              <a:t>boundary</a:t>
            </a:r>
            <a:r>
              <a:rPr lang="sv-SE" dirty="0">
                <a:ea typeface="Calibri" panose="020F0502020204030204" pitchFamily="34" charset="0"/>
                <a:cs typeface="Times New Roman" panose="02020603050405020304" pitchFamily="18" charset="0"/>
              </a:rPr>
              <a:t> </a:t>
            </a:r>
            <a:r>
              <a:rPr lang="sv-SE" dirty="0" err="1">
                <a:ea typeface="Calibri" panose="020F0502020204030204" pitchFamily="34" charset="0"/>
                <a:cs typeface="Times New Roman" panose="02020603050405020304" pitchFamily="18" charset="0"/>
              </a:rPr>
              <a:t>work</a:t>
            </a:r>
            <a:r>
              <a:rPr lang="sv-SE" dirty="0">
                <a:ea typeface="Calibri" panose="020F0502020204030204" pitchFamily="34" charset="0"/>
                <a:cs typeface="Times New Roman" panose="02020603050405020304" pitchFamily="18" charset="0"/>
              </a:rPr>
              <a:t>; Thomas </a:t>
            </a:r>
            <a:r>
              <a:rPr lang="sv-SE" dirty="0" err="1">
                <a:ea typeface="Calibri" panose="020F0502020204030204" pitchFamily="34" charset="0"/>
                <a:cs typeface="Times New Roman" panose="02020603050405020304" pitchFamily="18" charset="0"/>
              </a:rPr>
              <a:t>Gieryn</a:t>
            </a:r>
            <a:r>
              <a:rPr lang="sv-SE" dirty="0">
                <a:ea typeface="Calibri" panose="020F0502020204030204" pitchFamily="34" charset="0"/>
                <a:cs typeface="Times New Roman" panose="02020603050405020304" pitchFamily="18" charset="0"/>
              </a:rPr>
              <a:t>)</a:t>
            </a:r>
          </a:p>
          <a:p>
            <a:pPr lvl="0">
              <a:lnSpc>
                <a:spcPct val="107000"/>
              </a:lnSpc>
            </a:pPr>
            <a:endParaRPr lang="sv-SE" dirty="0">
              <a:effectLst/>
              <a:ea typeface="Calibri" panose="020F0502020204030204" pitchFamily="34" charset="0"/>
              <a:cs typeface="Times New Roman" panose="02020603050405020304" pitchFamily="18" charset="0"/>
            </a:endParaRPr>
          </a:p>
          <a:p>
            <a:pPr>
              <a:lnSpc>
                <a:spcPct val="107000"/>
              </a:lnSpc>
            </a:pPr>
            <a:r>
              <a:rPr lang="sv-SE" i="0" dirty="0">
                <a:solidFill>
                  <a:srgbClr val="222222"/>
                </a:solidFill>
                <a:effectLst/>
              </a:rPr>
              <a:t>Jämför </a:t>
            </a:r>
            <a:r>
              <a:rPr lang="sv-SE" i="1" dirty="0" err="1">
                <a:solidFill>
                  <a:srgbClr val="222222"/>
                </a:solidFill>
                <a:effectLst/>
              </a:rPr>
              <a:t>replication</a:t>
            </a:r>
            <a:r>
              <a:rPr lang="sv-SE" i="1" dirty="0">
                <a:solidFill>
                  <a:srgbClr val="222222"/>
                </a:solidFill>
                <a:effectLst/>
              </a:rPr>
              <a:t> </a:t>
            </a:r>
            <a:r>
              <a:rPr lang="sv-SE" i="1" dirty="0" err="1">
                <a:solidFill>
                  <a:srgbClr val="222222"/>
                </a:solidFill>
                <a:effectLst/>
              </a:rPr>
              <a:t>crisis</a:t>
            </a:r>
            <a:r>
              <a:rPr lang="sv-SE" i="0" dirty="0">
                <a:solidFill>
                  <a:srgbClr val="222222"/>
                </a:solidFill>
                <a:effectLst/>
              </a:rPr>
              <a:t> (t.ex. en enormt omfattande </a:t>
            </a:r>
            <a:r>
              <a:rPr lang="sv-SE" i="0" dirty="0" err="1">
                <a:solidFill>
                  <a:srgbClr val="222222"/>
                </a:solidFill>
                <a:effectLst/>
              </a:rPr>
              <a:t>wikipediaartikel</a:t>
            </a:r>
            <a:r>
              <a:rPr lang="sv-SE" i="0" dirty="0">
                <a:solidFill>
                  <a:srgbClr val="222222"/>
                </a:solidFill>
                <a:effectLst/>
              </a:rPr>
              <a:t>)</a:t>
            </a:r>
          </a:p>
          <a:p>
            <a:pPr lvl="0">
              <a:lnSpc>
                <a:spcPct val="107000"/>
              </a:lnSpc>
            </a:pPr>
            <a:endParaRPr lang="sv-SE" dirty="0">
              <a:effectLst/>
              <a:ea typeface="Calibri" panose="020F0502020204030204" pitchFamily="34" charset="0"/>
              <a:cs typeface="Times New Roman" panose="02020603050405020304" pitchFamily="18" charset="0"/>
            </a:endParaRPr>
          </a:p>
        </p:txBody>
      </p:sp>
      <p:sp>
        <p:nvSpPr>
          <p:cNvPr id="4" name="textruta 3">
            <a:extLst>
              <a:ext uri="{FF2B5EF4-FFF2-40B4-BE49-F238E27FC236}">
                <a16:creationId xmlns:a16="http://schemas.microsoft.com/office/drawing/2014/main" id="{F5C3CC34-5B30-400D-B9B6-9701707CAEA0}"/>
              </a:ext>
            </a:extLst>
          </p:cNvPr>
          <p:cNvSpPr txBox="1"/>
          <p:nvPr/>
        </p:nvSpPr>
        <p:spPr>
          <a:xfrm>
            <a:off x="3018453" y="1107347"/>
            <a:ext cx="5561901" cy="369332"/>
          </a:xfrm>
          <a:prstGeom prst="rect">
            <a:avLst/>
          </a:prstGeom>
          <a:noFill/>
        </p:spPr>
        <p:txBody>
          <a:bodyPr wrap="square" rtlCol="0">
            <a:spAutoFit/>
          </a:bodyPr>
          <a:lstStyle/>
          <a:p>
            <a:pPr algn="ctr"/>
            <a:r>
              <a:rPr lang="sv-SE" dirty="0"/>
              <a:t>RELATIVISM …</a:t>
            </a:r>
          </a:p>
        </p:txBody>
      </p:sp>
    </p:spTree>
    <p:extLst>
      <p:ext uri="{BB962C8B-B14F-4D97-AF65-F5344CB8AC3E}">
        <p14:creationId xmlns:p14="http://schemas.microsoft.com/office/powerpoint/2010/main" val="42520515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ruta 4">
            <a:extLst>
              <a:ext uri="{FF2B5EF4-FFF2-40B4-BE49-F238E27FC236}">
                <a16:creationId xmlns:a16="http://schemas.microsoft.com/office/drawing/2014/main" id="{1B4EC558-2837-496E-86B5-80CCE5B21567}"/>
              </a:ext>
            </a:extLst>
          </p:cNvPr>
          <p:cNvSpPr txBox="1"/>
          <p:nvPr/>
        </p:nvSpPr>
        <p:spPr>
          <a:xfrm>
            <a:off x="2732015" y="924886"/>
            <a:ext cx="6727970" cy="2308324"/>
          </a:xfrm>
          <a:prstGeom prst="rect">
            <a:avLst/>
          </a:prstGeom>
          <a:noFill/>
        </p:spPr>
        <p:txBody>
          <a:bodyPr wrap="square" rtlCol="0">
            <a:spAutoFit/>
          </a:bodyPr>
          <a:lstStyle/>
          <a:p>
            <a:r>
              <a:rPr lang="sv-SE" dirty="0"/>
              <a:t>Tidig vetenskapssociologi</a:t>
            </a:r>
          </a:p>
          <a:p>
            <a:endParaRPr lang="sv-SE" dirty="0"/>
          </a:p>
          <a:p>
            <a:r>
              <a:rPr lang="sv-SE" dirty="0"/>
              <a:t>30-talet:</a:t>
            </a:r>
          </a:p>
          <a:p>
            <a:r>
              <a:rPr lang="sv-SE" dirty="0"/>
              <a:t>Ludwik Fleck</a:t>
            </a:r>
          </a:p>
          <a:p>
            <a:r>
              <a:rPr lang="sv-SE" dirty="0"/>
              <a:t>Marxistisk historiematerialism</a:t>
            </a:r>
          </a:p>
          <a:p>
            <a:endParaRPr lang="sv-SE" dirty="0"/>
          </a:p>
          <a:p>
            <a:r>
              <a:rPr lang="sv-SE" dirty="0"/>
              <a:t>40-60-talet:</a:t>
            </a:r>
          </a:p>
          <a:p>
            <a:r>
              <a:rPr lang="sv-SE" dirty="0"/>
              <a:t>Robert K. Merton</a:t>
            </a:r>
          </a:p>
        </p:txBody>
      </p:sp>
    </p:spTree>
    <p:extLst>
      <p:ext uri="{BB962C8B-B14F-4D97-AF65-F5344CB8AC3E}">
        <p14:creationId xmlns:p14="http://schemas.microsoft.com/office/powerpoint/2010/main" val="35531953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ruta 4">
            <a:extLst>
              <a:ext uri="{FF2B5EF4-FFF2-40B4-BE49-F238E27FC236}">
                <a16:creationId xmlns:a16="http://schemas.microsoft.com/office/drawing/2014/main" id="{1B4EC558-2837-496E-86B5-80CCE5B21567}"/>
              </a:ext>
            </a:extLst>
          </p:cNvPr>
          <p:cNvSpPr txBox="1"/>
          <p:nvPr/>
        </p:nvSpPr>
        <p:spPr>
          <a:xfrm>
            <a:off x="2732015" y="924886"/>
            <a:ext cx="6727970" cy="2862322"/>
          </a:xfrm>
          <a:prstGeom prst="rect">
            <a:avLst/>
          </a:prstGeom>
          <a:noFill/>
        </p:spPr>
        <p:txBody>
          <a:bodyPr wrap="square" rtlCol="0">
            <a:spAutoFit/>
          </a:bodyPr>
          <a:lstStyle/>
          <a:p>
            <a:r>
              <a:rPr lang="sv-SE" dirty="0"/>
              <a:t>Tidig vetenskapssociologi</a:t>
            </a:r>
          </a:p>
          <a:p>
            <a:endParaRPr lang="sv-SE" dirty="0"/>
          </a:p>
          <a:p>
            <a:r>
              <a:rPr lang="sv-SE" dirty="0"/>
              <a:t>Thomas Kuhn, </a:t>
            </a:r>
            <a:r>
              <a:rPr lang="sv-SE" i="1" dirty="0"/>
              <a:t>The</a:t>
            </a:r>
            <a:r>
              <a:rPr lang="sv-SE" dirty="0"/>
              <a:t> </a:t>
            </a:r>
            <a:r>
              <a:rPr lang="en-GB" i="1" dirty="0"/>
              <a:t>Structure of Scientific Revolutions </a:t>
            </a:r>
            <a:r>
              <a:rPr lang="en-GB" dirty="0"/>
              <a:t>(1962)</a:t>
            </a:r>
            <a:endParaRPr lang="sv-SE" dirty="0"/>
          </a:p>
          <a:p>
            <a:r>
              <a:rPr lang="sv-SE" dirty="0"/>
              <a:t>Paradigmteorin</a:t>
            </a:r>
          </a:p>
          <a:p>
            <a:r>
              <a:rPr lang="sv-SE" dirty="0"/>
              <a:t>Normalvetenskap</a:t>
            </a:r>
          </a:p>
          <a:p>
            <a:r>
              <a:rPr lang="sv-SE" dirty="0"/>
              <a:t>Problemlösning</a:t>
            </a:r>
          </a:p>
          <a:p>
            <a:r>
              <a:rPr lang="sv-SE" dirty="0"/>
              <a:t>Anomalier</a:t>
            </a:r>
          </a:p>
          <a:p>
            <a:r>
              <a:rPr lang="sv-SE" dirty="0"/>
              <a:t>Revolution</a:t>
            </a:r>
          </a:p>
          <a:p>
            <a:r>
              <a:rPr lang="sv-SE" dirty="0"/>
              <a:t>Inkommensurabilitet (relativism)</a:t>
            </a:r>
          </a:p>
          <a:p>
            <a:endParaRPr lang="sv-SE" dirty="0"/>
          </a:p>
        </p:txBody>
      </p:sp>
    </p:spTree>
    <p:extLst>
      <p:ext uri="{BB962C8B-B14F-4D97-AF65-F5344CB8AC3E}">
        <p14:creationId xmlns:p14="http://schemas.microsoft.com/office/powerpoint/2010/main" val="15435776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ruta 4">
            <a:extLst>
              <a:ext uri="{FF2B5EF4-FFF2-40B4-BE49-F238E27FC236}">
                <a16:creationId xmlns:a16="http://schemas.microsoft.com/office/drawing/2014/main" id="{1B4EC558-2837-496E-86B5-80CCE5B21567}"/>
              </a:ext>
            </a:extLst>
          </p:cNvPr>
          <p:cNvSpPr txBox="1"/>
          <p:nvPr/>
        </p:nvSpPr>
        <p:spPr>
          <a:xfrm>
            <a:off x="2732015" y="924886"/>
            <a:ext cx="6727970" cy="4801314"/>
          </a:xfrm>
          <a:prstGeom prst="rect">
            <a:avLst/>
          </a:prstGeom>
          <a:noFill/>
        </p:spPr>
        <p:txBody>
          <a:bodyPr wrap="square" rtlCol="0">
            <a:spAutoFit/>
          </a:bodyPr>
          <a:lstStyle/>
          <a:p>
            <a:r>
              <a:rPr lang="sv-SE" dirty="0"/>
              <a:t>Tidig vetenskapssociologi</a:t>
            </a:r>
          </a:p>
          <a:p>
            <a:endParaRPr lang="sv-SE" dirty="0"/>
          </a:p>
          <a:p>
            <a:r>
              <a:rPr lang="sv-SE" dirty="0"/>
              <a:t>Det starka programmet inom vetenskapssociologi – SSK</a:t>
            </a:r>
          </a:p>
          <a:p>
            <a:r>
              <a:rPr lang="en-GB" dirty="0" err="1"/>
              <a:t>Kausalitet</a:t>
            </a:r>
            <a:endParaRPr lang="en-GB" dirty="0"/>
          </a:p>
          <a:p>
            <a:r>
              <a:rPr lang="en-GB" dirty="0" err="1"/>
              <a:t>Opartiskhet</a:t>
            </a:r>
            <a:endParaRPr lang="en-GB" dirty="0"/>
          </a:p>
          <a:p>
            <a:r>
              <a:rPr lang="en-GB" dirty="0" err="1"/>
              <a:t>Symmetri</a:t>
            </a:r>
            <a:endParaRPr lang="en-GB" dirty="0"/>
          </a:p>
          <a:p>
            <a:r>
              <a:rPr lang="en-GB" dirty="0"/>
              <a:t>Reflexivitet</a:t>
            </a:r>
          </a:p>
          <a:p>
            <a:endParaRPr lang="en-GB" dirty="0"/>
          </a:p>
          <a:p>
            <a:r>
              <a:rPr lang="en-GB" dirty="0" err="1"/>
              <a:t>Kontroversstudier</a:t>
            </a:r>
            <a:endParaRPr lang="en-GB" dirty="0"/>
          </a:p>
          <a:p>
            <a:r>
              <a:rPr lang="en-GB" dirty="0" err="1"/>
              <a:t>Svarta</a:t>
            </a:r>
            <a:r>
              <a:rPr lang="en-GB" dirty="0"/>
              <a:t> </a:t>
            </a:r>
            <a:r>
              <a:rPr lang="en-GB" dirty="0" err="1"/>
              <a:t>lådan</a:t>
            </a:r>
            <a:r>
              <a:rPr lang="en-GB" dirty="0"/>
              <a:t> (black box)</a:t>
            </a:r>
          </a:p>
          <a:p>
            <a:r>
              <a:rPr lang="en-GB" dirty="0"/>
              <a:t>Experimenter’s regress (Harry Collins)</a:t>
            </a:r>
          </a:p>
          <a:p>
            <a:r>
              <a:rPr lang="en-GB" dirty="0" err="1"/>
              <a:t>Tolkningsflexibilitet</a:t>
            </a:r>
            <a:endParaRPr lang="en-GB" dirty="0"/>
          </a:p>
          <a:p>
            <a:endParaRPr lang="en-GB" dirty="0"/>
          </a:p>
          <a:p>
            <a:r>
              <a:rPr lang="sv-SE" dirty="0"/>
              <a:t>Social Construction </a:t>
            </a:r>
            <a:r>
              <a:rPr lang="sv-SE" dirty="0" err="1"/>
              <a:t>of</a:t>
            </a:r>
            <a:r>
              <a:rPr lang="sv-SE" dirty="0"/>
              <a:t> </a:t>
            </a:r>
            <a:r>
              <a:rPr lang="sv-SE" dirty="0" err="1"/>
              <a:t>Technology</a:t>
            </a:r>
            <a:r>
              <a:rPr lang="sv-SE" dirty="0"/>
              <a:t> – SCOT</a:t>
            </a:r>
          </a:p>
          <a:p>
            <a:r>
              <a:rPr lang="sv-SE" dirty="0"/>
              <a:t>SSK + SCOT = Science and </a:t>
            </a:r>
            <a:r>
              <a:rPr lang="sv-SE" dirty="0" err="1"/>
              <a:t>Technology</a:t>
            </a:r>
            <a:r>
              <a:rPr lang="sv-SE" dirty="0"/>
              <a:t> Studies – STS</a:t>
            </a:r>
          </a:p>
          <a:p>
            <a:r>
              <a:rPr lang="sv-SE" dirty="0"/>
              <a:t>Tolkningsflexibilitet</a:t>
            </a:r>
          </a:p>
          <a:p>
            <a:endParaRPr lang="sv-SE" dirty="0"/>
          </a:p>
        </p:txBody>
      </p:sp>
    </p:spTree>
    <p:extLst>
      <p:ext uri="{BB962C8B-B14F-4D97-AF65-F5344CB8AC3E}">
        <p14:creationId xmlns:p14="http://schemas.microsoft.com/office/powerpoint/2010/main" val="35976007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ruta 4">
            <a:extLst>
              <a:ext uri="{FF2B5EF4-FFF2-40B4-BE49-F238E27FC236}">
                <a16:creationId xmlns:a16="http://schemas.microsoft.com/office/drawing/2014/main" id="{1B4EC558-2837-496E-86B5-80CCE5B21567}"/>
              </a:ext>
            </a:extLst>
          </p:cNvPr>
          <p:cNvSpPr txBox="1"/>
          <p:nvPr/>
        </p:nvSpPr>
        <p:spPr>
          <a:xfrm>
            <a:off x="2732015" y="916497"/>
            <a:ext cx="6727970" cy="4801314"/>
          </a:xfrm>
          <a:prstGeom prst="rect">
            <a:avLst/>
          </a:prstGeom>
          <a:noFill/>
        </p:spPr>
        <p:txBody>
          <a:bodyPr wrap="square" rtlCol="0">
            <a:spAutoFit/>
          </a:bodyPr>
          <a:lstStyle/>
          <a:p>
            <a:r>
              <a:rPr lang="sv-SE" dirty="0"/>
              <a:t>Tidig vetenskapssociologi</a:t>
            </a:r>
          </a:p>
          <a:p>
            <a:endParaRPr lang="sv-SE" dirty="0"/>
          </a:p>
          <a:p>
            <a:r>
              <a:rPr lang="sv-SE" dirty="0"/>
              <a:t>Historiska undersökningar</a:t>
            </a:r>
          </a:p>
          <a:p>
            <a:r>
              <a:rPr lang="sv-SE" dirty="0"/>
              <a:t>Steven Shapin &amp; Simon Schaffer, </a:t>
            </a:r>
            <a:r>
              <a:rPr lang="sv-SE" i="1" dirty="0" err="1"/>
              <a:t>Leviathan</a:t>
            </a:r>
            <a:r>
              <a:rPr lang="sv-SE" i="1" dirty="0"/>
              <a:t> and the Air Pump </a:t>
            </a:r>
            <a:r>
              <a:rPr lang="sv-SE" dirty="0"/>
              <a:t>(1985)</a:t>
            </a:r>
          </a:p>
          <a:p>
            <a:r>
              <a:rPr lang="sv-SE" dirty="0"/>
              <a:t>Hur skapas trovärdighet kring vetenskapliga fakta?</a:t>
            </a:r>
          </a:p>
          <a:p>
            <a:r>
              <a:rPr lang="sv-SE" dirty="0" err="1"/>
              <a:t>Gentlemen</a:t>
            </a:r>
            <a:endParaRPr lang="sv-SE" dirty="0"/>
          </a:p>
          <a:p>
            <a:r>
              <a:rPr lang="sv-SE" dirty="0"/>
              <a:t>Vetenskap och politik samproduceras</a:t>
            </a:r>
          </a:p>
          <a:p>
            <a:r>
              <a:rPr lang="sv-SE" dirty="0"/>
              <a:t>Historien formar samtiden</a:t>
            </a:r>
          </a:p>
          <a:p>
            <a:endParaRPr lang="sv-SE" dirty="0"/>
          </a:p>
          <a:p>
            <a:r>
              <a:rPr lang="sv-SE" dirty="0"/>
              <a:t>Aktör-nätverksteori, </a:t>
            </a:r>
            <a:r>
              <a:rPr lang="sv-SE" dirty="0" err="1"/>
              <a:t>Actor</a:t>
            </a:r>
            <a:r>
              <a:rPr lang="sv-SE" dirty="0"/>
              <a:t> </a:t>
            </a:r>
            <a:r>
              <a:rPr lang="sv-SE" dirty="0" err="1"/>
              <a:t>Network</a:t>
            </a:r>
            <a:r>
              <a:rPr lang="sv-SE" dirty="0"/>
              <a:t> </a:t>
            </a:r>
            <a:r>
              <a:rPr lang="sv-SE" dirty="0" err="1"/>
              <a:t>Theory</a:t>
            </a:r>
            <a:r>
              <a:rPr lang="sv-SE" dirty="0"/>
              <a:t> – ANT</a:t>
            </a:r>
          </a:p>
          <a:p>
            <a:r>
              <a:rPr lang="sv-SE" dirty="0"/>
              <a:t>Mänskliga och icke-mänskliga aktörer (Callon)</a:t>
            </a:r>
          </a:p>
          <a:p>
            <a:r>
              <a:rPr lang="sv-SE" dirty="0"/>
              <a:t>Maktrelationer</a:t>
            </a:r>
          </a:p>
          <a:p>
            <a:r>
              <a:rPr lang="sv-SE" dirty="0"/>
              <a:t>Styrkemätningar (</a:t>
            </a:r>
            <a:r>
              <a:rPr lang="sv-SE" dirty="0" err="1"/>
              <a:t>trials</a:t>
            </a:r>
            <a:r>
              <a:rPr lang="sv-SE" dirty="0"/>
              <a:t> </a:t>
            </a:r>
            <a:r>
              <a:rPr lang="sv-SE" dirty="0" err="1"/>
              <a:t>of</a:t>
            </a:r>
            <a:r>
              <a:rPr lang="sv-SE" dirty="0"/>
              <a:t> </a:t>
            </a:r>
            <a:r>
              <a:rPr lang="sv-SE" dirty="0" err="1"/>
              <a:t>strength</a:t>
            </a:r>
            <a:r>
              <a:rPr lang="sv-SE" dirty="0"/>
              <a:t>)</a:t>
            </a:r>
          </a:p>
          <a:p>
            <a:r>
              <a:rPr lang="sv-SE" dirty="0"/>
              <a:t>Teknovetenskap (Bruno Latour)</a:t>
            </a:r>
          </a:p>
          <a:p>
            <a:endParaRPr lang="sv-SE" dirty="0"/>
          </a:p>
          <a:p>
            <a:endParaRPr lang="sv-SE" dirty="0"/>
          </a:p>
        </p:txBody>
      </p:sp>
    </p:spTree>
    <p:extLst>
      <p:ext uri="{BB962C8B-B14F-4D97-AF65-F5344CB8AC3E}">
        <p14:creationId xmlns:p14="http://schemas.microsoft.com/office/powerpoint/2010/main" val="30529857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ruta 4">
            <a:extLst>
              <a:ext uri="{FF2B5EF4-FFF2-40B4-BE49-F238E27FC236}">
                <a16:creationId xmlns:a16="http://schemas.microsoft.com/office/drawing/2014/main" id="{1B4EC558-2837-496E-86B5-80CCE5B21567}"/>
              </a:ext>
            </a:extLst>
          </p:cNvPr>
          <p:cNvSpPr txBox="1"/>
          <p:nvPr/>
        </p:nvSpPr>
        <p:spPr>
          <a:xfrm>
            <a:off x="2732015" y="916497"/>
            <a:ext cx="6727970" cy="2862322"/>
          </a:xfrm>
          <a:prstGeom prst="rect">
            <a:avLst/>
          </a:prstGeom>
          <a:noFill/>
        </p:spPr>
        <p:txBody>
          <a:bodyPr wrap="square" rtlCol="0">
            <a:spAutoFit/>
          </a:bodyPr>
          <a:lstStyle/>
          <a:p>
            <a:r>
              <a:rPr lang="sv-SE" dirty="0"/>
              <a:t>Tidig vetenskapssociologi</a:t>
            </a:r>
          </a:p>
          <a:p>
            <a:endParaRPr lang="sv-SE" dirty="0"/>
          </a:p>
          <a:p>
            <a:r>
              <a:rPr lang="sv-SE" dirty="0"/>
              <a:t>Problem</a:t>
            </a:r>
          </a:p>
          <a:p>
            <a:endParaRPr lang="sv-SE" dirty="0"/>
          </a:p>
          <a:p>
            <a:r>
              <a:rPr lang="sv-SE" dirty="0"/>
              <a:t>Svårt att generalisera över kulturella och geografiska avstånd och över tid</a:t>
            </a:r>
          </a:p>
          <a:p>
            <a:r>
              <a:rPr lang="sv-SE" dirty="0"/>
              <a:t>Kommunikationens betydelse tonas ner</a:t>
            </a:r>
          </a:p>
          <a:p>
            <a:r>
              <a:rPr lang="sv-SE" dirty="0"/>
              <a:t>ANT undviker frågor om kultur, ideolog, kunskapssyn</a:t>
            </a:r>
          </a:p>
          <a:p>
            <a:endParaRPr lang="sv-SE" dirty="0"/>
          </a:p>
          <a:p>
            <a:endParaRPr lang="sv-SE" dirty="0"/>
          </a:p>
          <a:p>
            <a:endParaRPr lang="sv-SE" dirty="0"/>
          </a:p>
        </p:txBody>
      </p:sp>
    </p:spTree>
    <p:extLst>
      <p:ext uri="{BB962C8B-B14F-4D97-AF65-F5344CB8AC3E}">
        <p14:creationId xmlns:p14="http://schemas.microsoft.com/office/powerpoint/2010/main" val="42009803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ruta 4">
            <a:extLst>
              <a:ext uri="{FF2B5EF4-FFF2-40B4-BE49-F238E27FC236}">
                <a16:creationId xmlns:a16="http://schemas.microsoft.com/office/drawing/2014/main" id="{1B4EC558-2837-496E-86B5-80CCE5B21567}"/>
              </a:ext>
            </a:extLst>
          </p:cNvPr>
          <p:cNvSpPr txBox="1"/>
          <p:nvPr/>
        </p:nvSpPr>
        <p:spPr>
          <a:xfrm>
            <a:off x="2732015" y="916497"/>
            <a:ext cx="6727970" cy="4524315"/>
          </a:xfrm>
          <a:prstGeom prst="rect">
            <a:avLst/>
          </a:prstGeom>
          <a:noFill/>
        </p:spPr>
        <p:txBody>
          <a:bodyPr wrap="square" rtlCol="0">
            <a:spAutoFit/>
          </a:bodyPr>
          <a:lstStyle/>
          <a:p>
            <a:r>
              <a:rPr lang="sv-SE" dirty="0"/>
              <a:t>Slutord</a:t>
            </a:r>
          </a:p>
          <a:p>
            <a:endParaRPr lang="sv-SE" dirty="0"/>
          </a:p>
          <a:p>
            <a:r>
              <a:rPr lang="sv-SE" dirty="0"/>
              <a:t>Gustaf Fröding, ”Vad är sanning?” (</a:t>
            </a:r>
            <a:r>
              <a:rPr lang="sv-SE" i="1" dirty="0"/>
              <a:t>Gitarr och dragharmonika</a:t>
            </a:r>
            <a:r>
              <a:rPr lang="sv-SE" dirty="0"/>
              <a:t>, 1891)</a:t>
            </a:r>
          </a:p>
          <a:p>
            <a:endParaRPr lang="sv-SE" dirty="0"/>
          </a:p>
          <a:p>
            <a:r>
              <a:rPr lang="sv-SE" dirty="0"/>
              <a:t>Men gudskelov, att professorer finnas,</a:t>
            </a:r>
          </a:p>
          <a:p>
            <a:r>
              <a:rPr lang="sv-SE" dirty="0"/>
              <a:t>för vilka sanningen är ganska klar!</a:t>
            </a:r>
          </a:p>
          <a:p>
            <a:r>
              <a:rPr lang="sv-SE" dirty="0"/>
              <a:t>De äro legio, ty de äro </a:t>
            </a:r>
            <a:r>
              <a:rPr lang="sv-SE" dirty="0" err="1"/>
              <a:t>månge</a:t>
            </a:r>
            <a:r>
              <a:rPr lang="sv-SE" dirty="0"/>
              <a:t>,</a:t>
            </a:r>
          </a:p>
          <a:p>
            <a:r>
              <a:rPr lang="sv-SE" dirty="0"/>
              <a:t>som skänkt den tvivelsamme […] svar.</a:t>
            </a:r>
          </a:p>
          <a:p>
            <a:endParaRPr lang="sv-SE" dirty="0"/>
          </a:p>
          <a:p>
            <a:r>
              <a:rPr lang="sv-SE" dirty="0"/>
              <a:t>Dock syns mig sällsamt, att det enda sanna</a:t>
            </a:r>
          </a:p>
          <a:p>
            <a:r>
              <a:rPr lang="sv-SE" dirty="0"/>
              <a:t>så underbart kan byta form och färg.</a:t>
            </a:r>
          </a:p>
          <a:p>
            <a:r>
              <a:rPr lang="sv-SE" dirty="0"/>
              <a:t>Det, som är sanning i Berlin och Jena,</a:t>
            </a:r>
          </a:p>
          <a:p>
            <a:r>
              <a:rPr lang="sv-SE" dirty="0"/>
              <a:t>är bara dåligt skämt i Heidelberg.</a:t>
            </a:r>
          </a:p>
          <a:p>
            <a:endParaRPr lang="sv-SE" dirty="0"/>
          </a:p>
          <a:p>
            <a:endParaRPr lang="sv-SE" dirty="0"/>
          </a:p>
          <a:p>
            <a:endParaRPr lang="sv-SE" dirty="0"/>
          </a:p>
        </p:txBody>
      </p:sp>
      <p:pic>
        <p:nvPicPr>
          <p:cNvPr id="3" name="Bildobjekt 2" descr="En bild som visar person, person, slips, inomhus&#10;&#10;Automatiskt genererad beskrivning">
            <a:extLst>
              <a:ext uri="{FF2B5EF4-FFF2-40B4-BE49-F238E27FC236}">
                <a16:creationId xmlns:a16="http://schemas.microsoft.com/office/drawing/2014/main" id="{A60E1545-FA62-4DD9-963E-61943636DA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86493" y="1943100"/>
            <a:ext cx="4162425" cy="2971800"/>
          </a:xfrm>
          <a:prstGeom prst="rect">
            <a:avLst/>
          </a:prstGeom>
        </p:spPr>
      </p:pic>
    </p:spTree>
    <p:extLst>
      <p:ext uri="{BB962C8B-B14F-4D97-AF65-F5344CB8AC3E}">
        <p14:creationId xmlns:p14="http://schemas.microsoft.com/office/powerpoint/2010/main" val="4119605829"/>
      </p:ext>
    </p:extLst>
  </p:cSld>
  <p:clrMapOvr>
    <a:masterClrMapping/>
  </p:clrMapOvr>
</p:sld>
</file>

<file path=ppt/theme/theme1.xml><?xml version="1.0" encoding="utf-8"?>
<a:theme xmlns:a="http://schemas.openxmlformats.org/drawingml/2006/main" name="AngleLinesVTI">
  <a:themeElements>
    <a:clrScheme name="AnalogousFromDarkSeedLeftStep">
      <a:dk1>
        <a:srgbClr val="000000"/>
      </a:dk1>
      <a:lt1>
        <a:srgbClr val="FFFFFF"/>
      </a:lt1>
      <a:dk2>
        <a:srgbClr val="191634"/>
      </a:dk2>
      <a:lt2>
        <a:srgbClr val="F0F3F3"/>
      </a:lt2>
      <a:accent1>
        <a:srgbClr val="C34D69"/>
      </a:accent1>
      <a:accent2>
        <a:srgbClr val="B13B89"/>
      </a:accent2>
      <a:accent3>
        <a:srgbClr val="BA4DC3"/>
      </a:accent3>
      <a:accent4>
        <a:srgbClr val="773BB1"/>
      </a:accent4>
      <a:accent5>
        <a:srgbClr val="584DC3"/>
      </a:accent5>
      <a:accent6>
        <a:srgbClr val="3B61B1"/>
      </a:accent6>
      <a:hlink>
        <a:srgbClr val="7052C5"/>
      </a:hlink>
      <a:folHlink>
        <a:srgbClr val="7F7F7F"/>
      </a:folHlink>
    </a:clrScheme>
    <a:fontScheme name="Walbaum Light Univers Light">
      <a:majorFont>
        <a:latin typeface="Walbaum Display Light"/>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ngleLinesVTI" id="{BC1FC193-C72F-4761-9899-1105EDF6BAE8}" vid="{64612625-F022-44B7-B9FA-9D26DEDBDC21}"/>
    </a:ext>
  </a:extLst>
</a:theme>
</file>

<file path=docProps/app.xml><?xml version="1.0" encoding="utf-8"?>
<Properties xmlns="http://schemas.openxmlformats.org/officeDocument/2006/extended-properties" xmlns:vt="http://schemas.openxmlformats.org/officeDocument/2006/docPropsVTypes">
  <TotalTime>2174</TotalTime>
  <Words>1027</Words>
  <Application>Microsoft Office PowerPoint</Application>
  <PresentationFormat>Widescreen</PresentationFormat>
  <Paragraphs>166</Paragraphs>
  <Slides>18</Slides>
  <Notes>0</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DS Heroun</vt:lpstr>
      <vt:lpstr>Univers Condensed Light</vt:lpstr>
      <vt:lpstr>Walbaum Display Light</vt:lpstr>
      <vt:lpstr>AngleLinesVTI</vt:lpstr>
      <vt:lpstr>Vetenskaps- och tekniksTUDIER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Vetenskaps- och tekniksociologi</dc:title>
  <dc:creator>Sven Widmalm</dc:creator>
  <cp:lastModifiedBy>Sven Widmalm</cp:lastModifiedBy>
  <cp:revision>44</cp:revision>
  <dcterms:created xsi:type="dcterms:W3CDTF">2020-10-30T08:12:21Z</dcterms:created>
  <dcterms:modified xsi:type="dcterms:W3CDTF">2024-11-10T16:37:14Z</dcterms:modified>
</cp:coreProperties>
</file>